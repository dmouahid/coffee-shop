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0083800" cy="5670550"/>
  <p:notesSz cx="10083800" cy="56705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6285" y="1757870"/>
            <a:ext cx="8571230" cy="11908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12570" y="3175508"/>
            <a:ext cx="7058660" cy="14176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4190" y="1304226"/>
            <a:ext cx="4386453" cy="37425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93157" y="1304226"/>
            <a:ext cx="4386453" cy="37425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226094"/>
            <a:ext cx="10080625" cy="946785"/>
          </a:xfrm>
          <a:custGeom>
            <a:avLst/>
            <a:gdLst/>
            <a:ahLst/>
            <a:cxnLst/>
            <a:rect l="l" t="t" r="r" b="b"/>
            <a:pathLst>
              <a:path w="10080625" h="946785">
                <a:moveTo>
                  <a:pt x="10080002" y="0"/>
                </a:moveTo>
                <a:lnTo>
                  <a:pt x="0" y="0"/>
                </a:lnTo>
                <a:lnTo>
                  <a:pt x="0" y="946429"/>
                </a:lnTo>
                <a:lnTo>
                  <a:pt x="5039995" y="946429"/>
                </a:lnTo>
                <a:lnTo>
                  <a:pt x="10080002" y="946429"/>
                </a:lnTo>
                <a:lnTo>
                  <a:pt x="10080002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48462" y="306624"/>
            <a:ext cx="9186875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395272" y="1707467"/>
            <a:ext cx="7293254" cy="17640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28492" y="5273611"/>
            <a:ext cx="3226816" cy="28352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4190" y="5273611"/>
            <a:ext cx="2319274" cy="28352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60336" y="5273611"/>
            <a:ext cx="2319274" cy="28352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dmouahid.github.io/Coffee-Shop/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0312" rIns="0" bIns="0" rtlCol="0">
            <a:spAutoFit/>
          </a:bodyPr>
          <a:lstStyle/>
          <a:p>
            <a:pPr marL="38227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latin typeface="Arial" panose="020B0604020202020204"/>
                <a:cs typeface="Arial" panose="020B0604020202020204"/>
              </a:rPr>
              <a:t>Coffee</a:t>
            </a:r>
            <a:r>
              <a:rPr sz="2800" b="1" spc="-85" dirty="0">
                <a:latin typeface="Arial" panose="020B0604020202020204"/>
                <a:cs typeface="Arial" panose="020B0604020202020204"/>
              </a:rPr>
              <a:t> </a:t>
            </a:r>
            <a:r>
              <a:rPr sz="2800" b="1" dirty="0">
                <a:latin typeface="Arial" panose="020B0604020202020204"/>
                <a:cs typeface="Arial" panose="020B0604020202020204"/>
              </a:rPr>
              <a:t>Shop</a:t>
            </a:r>
            <a:r>
              <a:rPr sz="2800" b="1" spc="-75" dirty="0">
                <a:latin typeface="Arial" panose="020B0604020202020204"/>
                <a:cs typeface="Arial" panose="020B0604020202020204"/>
              </a:rPr>
              <a:t> </a:t>
            </a:r>
            <a:r>
              <a:rPr sz="2800" b="1" dirty="0">
                <a:latin typeface="Arial" panose="020B0604020202020204"/>
                <a:cs typeface="Arial" panose="020B0604020202020204"/>
              </a:rPr>
              <a:t>—</a:t>
            </a:r>
            <a:r>
              <a:rPr sz="2800" b="1" spc="-80" dirty="0">
                <a:latin typeface="Arial" panose="020B0604020202020204"/>
                <a:cs typeface="Arial" panose="020B0604020202020204"/>
              </a:rPr>
              <a:t> </a:t>
            </a:r>
            <a:r>
              <a:rPr sz="2800" b="1" spc="-25" dirty="0">
                <a:latin typeface="Arial" panose="020B0604020202020204"/>
                <a:cs typeface="Arial" panose="020B0604020202020204"/>
              </a:rPr>
              <a:t>Mini-</a:t>
            </a:r>
            <a:r>
              <a:rPr sz="2800" b="1" dirty="0">
                <a:latin typeface="Arial" panose="020B0604020202020204"/>
                <a:cs typeface="Arial" panose="020B0604020202020204"/>
              </a:rPr>
              <a:t>projet</a:t>
            </a:r>
            <a:r>
              <a:rPr sz="2800" b="1" spc="-75" dirty="0">
                <a:latin typeface="Arial" panose="020B0604020202020204"/>
                <a:cs typeface="Arial" panose="020B0604020202020204"/>
              </a:rPr>
              <a:t> </a:t>
            </a:r>
            <a:r>
              <a:rPr sz="2800" b="1" dirty="0">
                <a:latin typeface="Arial" panose="020B0604020202020204"/>
                <a:cs typeface="Arial" panose="020B0604020202020204"/>
              </a:rPr>
              <a:t>Programmation</a:t>
            </a:r>
            <a:r>
              <a:rPr sz="2800" b="1" spc="-80" dirty="0">
                <a:latin typeface="Arial" panose="020B0604020202020204"/>
                <a:cs typeface="Arial" panose="020B0604020202020204"/>
              </a:rPr>
              <a:t> </a:t>
            </a:r>
            <a:r>
              <a:rPr sz="2800" b="1" dirty="0">
                <a:latin typeface="Arial" panose="020B0604020202020204"/>
                <a:cs typeface="Arial" panose="020B0604020202020204"/>
              </a:rPr>
              <a:t>Web</a:t>
            </a:r>
            <a:r>
              <a:rPr sz="2800" b="1" spc="-75" dirty="0">
                <a:latin typeface="Arial" panose="020B0604020202020204"/>
                <a:cs typeface="Arial" panose="020B0604020202020204"/>
              </a:rPr>
              <a:t> </a:t>
            </a:r>
            <a:r>
              <a:rPr sz="2800" b="1" spc="-50" dirty="0">
                <a:latin typeface="Arial" panose="020B0604020202020204"/>
                <a:cs typeface="Arial" panose="020B0604020202020204"/>
              </a:rPr>
              <a:t>1</a:t>
            </a:r>
            <a:endParaRPr sz="2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16864" y="1499307"/>
            <a:ext cx="9071610" cy="285369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 marR="5080">
              <a:lnSpc>
                <a:spcPts val="2230"/>
              </a:lnSpc>
              <a:spcBef>
                <a:spcPts val="315"/>
              </a:spcBef>
            </a:pPr>
            <a:r>
              <a:rPr sz="2000" dirty="0">
                <a:latin typeface="Arial MT"/>
                <a:cs typeface="Arial MT"/>
              </a:rPr>
              <a:t>«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Bonjour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—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je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présente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mini-</a:t>
            </a:r>
            <a:r>
              <a:rPr sz="2000" dirty="0">
                <a:latin typeface="Arial MT"/>
                <a:cs typeface="Arial MT"/>
              </a:rPr>
              <a:t>projet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"Coffee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Shop",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un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petit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site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commande </a:t>
            </a:r>
            <a:r>
              <a:rPr sz="2000" dirty="0">
                <a:latin typeface="Arial MT"/>
                <a:cs typeface="Arial MT"/>
              </a:rPr>
              <a:t>en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ligne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réalisé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en</a:t>
            </a:r>
            <a:r>
              <a:rPr sz="2000" spc="-10" dirty="0">
                <a:latin typeface="Arial MT"/>
                <a:cs typeface="Arial MT"/>
              </a:rPr>
              <a:t> HTML/CSS/JavaScript. </a:t>
            </a:r>
            <a:r>
              <a:rPr sz="2000" spc="-50" dirty="0">
                <a:latin typeface="Arial MT"/>
                <a:cs typeface="Arial MT"/>
              </a:rPr>
              <a:t>»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945"/>
              </a:spcBef>
            </a:pPr>
            <a:r>
              <a:rPr sz="2000" b="1" dirty="0">
                <a:latin typeface="Arial" panose="020B0604020202020204"/>
                <a:cs typeface="Arial" panose="020B0604020202020204"/>
              </a:rPr>
              <a:t>Nom</a:t>
            </a:r>
            <a:r>
              <a:rPr sz="2000" b="1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du</a:t>
            </a:r>
            <a:r>
              <a:rPr sz="2000" b="1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projet</a:t>
            </a:r>
            <a:r>
              <a:rPr sz="2000" b="1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:</a:t>
            </a:r>
            <a:r>
              <a:rPr sz="2000" b="1" spc="-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solidFill>
                  <a:srgbClr val="C8201D"/>
                </a:solidFill>
                <a:latin typeface="Arial" panose="020B0604020202020204"/>
                <a:cs typeface="Arial" panose="020B0604020202020204"/>
              </a:rPr>
              <a:t>Coffee</a:t>
            </a:r>
            <a:r>
              <a:rPr sz="2000" b="1" spc="-25" dirty="0">
                <a:solidFill>
                  <a:srgbClr val="C8201D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-20" dirty="0">
                <a:solidFill>
                  <a:srgbClr val="C8201D"/>
                </a:solidFill>
                <a:latin typeface="Arial" panose="020B0604020202020204"/>
                <a:cs typeface="Arial" panose="020B0604020202020204"/>
              </a:rPr>
              <a:t>Shop</a:t>
            </a:r>
            <a:endParaRPr sz="2000">
              <a:latin typeface="Arial" panose="020B0604020202020204"/>
              <a:cs typeface="Arial" panose="020B0604020202020204"/>
            </a:endParaRPr>
          </a:p>
          <a:p>
            <a:pPr marL="12700" marR="207010">
              <a:lnSpc>
                <a:spcPts val="2230"/>
              </a:lnSpc>
              <a:spcBef>
                <a:spcPts val="2210"/>
              </a:spcBef>
            </a:pPr>
            <a:r>
              <a:rPr sz="2000" b="1" dirty="0">
                <a:latin typeface="Arial" panose="020B0604020202020204"/>
                <a:cs typeface="Arial" panose="020B0604020202020204"/>
              </a:rPr>
              <a:t>Description</a:t>
            </a:r>
            <a:r>
              <a:rPr sz="2000" b="1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du</a:t>
            </a:r>
            <a:r>
              <a:rPr sz="2000" b="1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projet</a:t>
            </a:r>
            <a:r>
              <a:rPr sz="2000" b="1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: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 </a:t>
            </a:r>
            <a:r>
              <a:rPr sz="2000" spc="-10" dirty="0">
                <a:latin typeface="Arial MT"/>
                <a:cs typeface="Arial MT"/>
              </a:rPr>
              <a:t>Mini-</a:t>
            </a:r>
            <a:r>
              <a:rPr sz="2000" dirty="0">
                <a:latin typeface="Arial MT"/>
                <a:cs typeface="Arial MT"/>
              </a:rPr>
              <a:t>projet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«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Coffee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Shop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»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: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application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front-</a:t>
            </a:r>
            <a:r>
              <a:rPr sz="2000" dirty="0">
                <a:latin typeface="Arial MT"/>
                <a:cs typeface="Arial MT"/>
              </a:rPr>
              <a:t>end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en </a:t>
            </a:r>
            <a:r>
              <a:rPr sz="2000" dirty="0">
                <a:latin typeface="Arial MT"/>
                <a:cs typeface="Arial MT"/>
              </a:rPr>
              <a:t>HTML/CSS/JS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permettant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consulter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des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produits,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ajouter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au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panier,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simuler </a:t>
            </a:r>
            <a:r>
              <a:rPr sz="2000" dirty="0">
                <a:latin typeface="Arial MT"/>
                <a:cs typeface="Arial MT"/>
              </a:rPr>
              <a:t>un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checkout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et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gérer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localement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messages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et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commandes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via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localStorage.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945"/>
              </a:spcBef>
            </a:pPr>
            <a:r>
              <a:rPr sz="2000" b="1" dirty="0">
                <a:latin typeface="Arial" panose="020B0604020202020204"/>
                <a:cs typeface="Arial" panose="020B0604020202020204"/>
              </a:rPr>
              <a:t>lien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GitHub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public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:</a:t>
            </a:r>
            <a:r>
              <a:rPr sz="2000" b="1" spc="45" dirty="0">
                <a:latin typeface="Arial" panose="020B0604020202020204"/>
                <a:cs typeface="Arial" panose="020B0604020202020204"/>
              </a:rPr>
              <a:t> </a:t>
            </a:r>
            <a:r>
              <a:rPr sz="2000" spc="-10" dirty="0">
                <a:solidFill>
                  <a:srgbClr val="295F99"/>
                </a:solidFill>
                <a:latin typeface="Arial MT"/>
                <a:cs typeface="Arial MT"/>
                <a:hlinkClick r:id="rId1"/>
              </a:rPr>
              <a:t>https://dmouahid.github.io/Coffee-Shop/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26094"/>
            <a:ext cx="10058400" cy="916940"/>
          </a:xfrm>
          <a:custGeom>
            <a:avLst/>
            <a:gdLst/>
            <a:ahLst/>
            <a:cxnLst/>
            <a:rect l="l" t="t" r="r" b="b"/>
            <a:pathLst>
              <a:path w="10058400" h="916940">
                <a:moveTo>
                  <a:pt x="10058400" y="0"/>
                </a:moveTo>
                <a:lnTo>
                  <a:pt x="0" y="0"/>
                </a:lnTo>
                <a:lnTo>
                  <a:pt x="0" y="916914"/>
                </a:lnTo>
                <a:lnTo>
                  <a:pt x="5029200" y="916914"/>
                </a:lnTo>
                <a:lnTo>
                  <a:pt x="10058400" y="916914"/>
                </a:lnTo>
                <a:lnTo>
                  <a:pt x="100584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28340">
              <a:lnSpc>
                <a:spcPct val="100000"/>
              </a:lnSpc>
              <a:spcBef>
                <a:spcPts val="100"/>
              </a:spcBef>
            </a:pPr>
            <a:r>
              <a:rPr b="1" spc="-10" dirty="0">
                <a:latin typeface="Arial" panose="020B0604020202020204"/>
                <a:cs typeface="Arial" panose="020B0604020202020204"/>
              </a:rPr>
              <a:t>Sommaire</a:t>
            </a:r>
            <a:endParaRPr b="1" spc="-1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2500" y="1540709"/>
            <a:ext cx="94615" cy="12953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650" spc="-50" dirty="0">
                <a:latin typeface="Lucida Sans Unicode" panose="020B0602030504020204"/>
                <a:cs typeface="Lucida Sans Unicode" panose="020B0602030504020204"/>
              </a:rPr>
              <a:t>●</a:t>
            </a:r>
            <a:endParaRPr sz="65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6503" y="1478428"/>
            <a:ext cx="197040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latin typeface="Arial" panose="020B0604020202020204"/>
                <a:cs typeface="Arial" panose="020B0604020202020204"/>
              </a:rPr>
              <a:t>Introduction</a:t>
            </a:r>
            <a:r>
              <a:rPr sz="1500" b="1" spc="-65" dirty="0">
                <a:latin typeface="Arial" panose="020B0604020202020204"/>
                <a:cs typeface="Arial" panose="020B0604020202020204"/>
              </a:rPr>
              <a:t> </a:t>
            </a:r>
            <a:r>
              <a:rPr sz="1500" b="1" spc="-10" dirty="0">
                <a:latin typeface="Arial" panose="020B0604020202020204"/>
                <a:cs typeface="Arial" panose="020B0604020202020204"/>
              </a:rPr>
              <a:t>générale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52500" y="1979913"/>
            <a:ext cx="94615" cy="12953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650" spc="-50" dirty="0">
                <a:latin typeface="Lucida Sans Unicode" panose="020B0602030504020204"/>
                <a:cs typeface="Lucida Sans Unicode" panose="020B0602030504020204"/>
              </a:rPr>
              <a:t>●</a:t>
            </a:r>
            <a:endParaRPr sz="65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76503" y="1917632"/>
            <a:ext cx="1898014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latin typeface="Arial" panose="020B0604020202020204"/>
                <a:cs typeface="Arial" panose="020B0604020202020204"/>
              </a:rPr>
              <a:t>Contexte</a:t>
            </a:r>
            <a:r>
              <a:rPr sz="1500" b="1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500" b="1" dirty="0">
                <a:latin typeface="Arial" panose="020B0604020202020204"/>
                <a:cs typeface="Arial" panose="020B0604020202020204"/>
              </a:rPr>
              <a:t>et</a:t>
            </a:r>
            <a:r>
              <a:rPr sz="1500" b="1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1500" b="1" spc="-10" dirty="0">
                <a:latin typeface="Arial" panose="020B0604020202020204"/>
                <a:cs typeface="Arial" panose="020B0604020202020204"/>
              </a:rPr>
              <a:t>objectifs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2500" y="2419104"/>
            <a:ext cx="94615" cy="12953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650" spc="-50" dirty="0">
                <a:latin typeface="Lucida Sans Unicode" panose="020B0602030504020204"/>
                <a:cs typeface="Lucida Sans Unicode" panose="020B0602030504020204"/>
              </a:rPr>
              <a:t>●</a:t>
            </a:r>
            <a:endParaRPr sz="65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76503" y="2356836"/>
            <a:ext cx="204533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latin typeface="Arial" panose="020B0604020202020204"/>
                <a:cs typeface="Arial" panose="020B0604020202020204"/>
              </a:rPr>
              <a:t>Analyse</a:t>
            </a:r>
            <a:r>
              <a:rPr sz="1500" b="1" spc="-60" dirty="0">
                <a:latin typeface="Arial" panose="020B0604020202020204"/>
                <a:cs typeface="Arial" panose="020B0604020202020204"/>
              </a:rPr>
              <a:t> </a:t>
            </a:r>
            <a:r>
              <a:rPr sz="1500" b="1" dirty="0">
                <a:latin typeface="Arial" panose="020B0604020202020204"/>
                <a:cs typeface="Arial" panose="020B0604020202020204"/>
              </a:rPr>
              <a:t>et</a:t>
            </a:r>
            <a:r>
              <a:rPr sz="1500" b="1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1500" b="1" spc="-10" dirty="0">
                <a:latin typeface="Arial" panose="020B0604020202020204"/>
                <a:cs typeface="Arial" panose="020B0604020202020204"/>
              </a:rPr>
              <a:t>conception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52500" y="2858309"/>
            <a:ext cx="94615" cy="12953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650" spc="-50" dirty="0">
                <a:latin typeface="Lucida Sans Unicode" panose="020B0602030504020204"/>
                <a:cs typeface="Lucida Sans Unicode" panose="020B0602030504020204"/>
              </a:rPr>
              <a:t>●</a:t>
            </a:r>
            <a:endParaRPr sz="65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76503" y="2796028"/>
            <a:ext cx="205295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latin typeface="Arial" panose="020B0604020202020204"/>
                <a:cs typeface="Arial" panose="020B0604020202020204"/>
              </a:rPr>
              <a:t>Technologies</a:t>
            </a:r>
            <a:r>
              <a:rPr sz="1500" b="1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1500" b="1" spc="-10" dirty="0">
                <a:latin typeface="Arial" panose="020B0604020202020204"/>
                <a:cs typeface="Arial" panose="020B0604020202020204"/>
              </a:rPr>
              <a:t>utilisées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52500" y="3297513"/>
            <a:ext cx="94615" cy="12953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650" spc="-50" dirty="0">
                <a:latin typeface="Lucida Sans Unicode" panose="020B0602030504020204"/>
                <a:cs typeface="Lucida Sans Unicode" panose="020B0602030504020204"/>
              </a:rPr>
              <a:t>●</a:t>
            </a:r>
            <a:endParaRPr sz="65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76503" y="3235232"/>
            <a:ext cx="351536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latin typeface="Arial" panose="020B0604020202020204"/>
                <a:cs typeface="Arial" panose="020B0604020202020204"/>
              </a:rPr>
              <a:t>Pages</a:t>
            </a:r>
            <a:r>
              <a:rPr sz="1500" b="1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1500" b="1" dirty="0">
                <a:latin typeface="Arial" panose="020B0604020202020204"/>
                <a:cs typeface="Arial" panose="020B0604020202020204"/>
              </a:rPr>
              <a:t>principales</a:t>
            </a:r>
            <a:r>
              <a:rPr sz="1500" b="1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1500" b="1" dirty="0">
                <a:latin typeface="Arial" panose="020B0604020202020204"/>
                <a:cs typeface="Arial" panose="020B0604020202020204"/>
              </a:rPr>
              <a:t>(index</a:t>
            </a:r>
            <a:r>
              <a:rPr sz="1500" b="1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1500" b="1" dirty="0">
                <a:latin typeface="Arial" panose="020B0604020202020204"/>
                <a:cs typeface="Arial" panose="020B0604020202020204"/>
              </a:rPr>
              <a:t>/</a:t>
            </a:r>
            <a:r>
              <a:rPr sz="1500" b="1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1500" b="1" dirty="0">
                <a:latin typeface="Arial" panose="020B0604020202020204"/>
                <a:cs typeface="Arial" panose="020B0604020202020204"/>
              </a:rPr>
              <a:t>order</a:t>
            </a:r>
            <a:r>
              <a:rPr sz="1500" b="1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1500" b="1" dirty="0">
                <a:latin typeface="Arial" panose="020B0604020202020204"/>
                <a:cs typeface="Arial" panose="020B0604020202020204"/>
              </a:rPr>
              <a:t>/</a:t>
            </a:r>
            <a:r>
              <a:rPr sz="1500" b="1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1500" b="1" spc="-20" dirty="0">
                <a:latin typeface="Arial" panose="020B0604020202020204"/>
                <a:cs typeface="Arial" panose="020B0604020202020204"/>
              </a:rPr>
              <a:t>data)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52500" y="3736704"/>
            <a:ext cx="94615" cy="12953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650" spc="-50" dirty="0">
                <a:latin typeface="Lucida Sans Unicode" panose="020B0602030504020204"/>
                <a:cs typeface="Lucida Sans Unicode" panose="020B0602030504020204"/>
              </a:rPr>
              <a:t>●</a:t>
            </a:r>
            <a:endParaRPr sz="65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76503" y="3674436"/>
            <a:ext cx="308102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latin typeface="Arial" panose="020B0604020202020204"/>
                <a:cs typeface="Arial" panose="020B0604020202020204"/>
              </a:rPr>
              <a:t>Gestion</a:t>
            </a:r>
            <a:r>
              <a:rPr sz="1500" b="1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1500" b="1" dirty="0">
                <a:latin typeface="Arial" panose="020B0604020202020204"/>
                <a:cs typeface="Arial" panose="020B0604020202020204"/>
              </a:rPr>
              <a:t>du</a:t>
            </a:r>
            <a:r>
              <a:rPr sz="1500" b="1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500" b="1" dirty="0">
                <a:latin typeface="Arial" panose="020B0604020202020204"/>
                <a:cs typeface="Arial" panose="020B0604020202020204"/>
              </a:rPr>
              <a:t>panier</a:t>
            </a:r>
            <a:r>
              <a:rPr sz="1500" b="1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500" b="1" dirty="0">
                <a:latin typeface="Arial" panose="020B0604020202020204"/>
                <a:cs typeface="Arial" panose="020B0604020202020204"/>
              </a:rPr>
              <a:t>et</a:t>
            </a:r>
            <a:r>
              <a:rPr sz="1500" b="1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500" b="1" dirty="0">
                <a:latin typeface="Arial" panose="020B0604020202020204"/>
                <a:cs typeface="Arial" panose="020B0604020202020204"/>
              </a:rPr>
              <a:t>des</a:t>
            </a:r>
            <a:r>
              <a:rPr sz="1500" b="1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500" b="1" spc="-10" dirty="0">
                <a:latin typeface="Arial" panose="020B0604020202020204"/>
                <a:cs typeface="Arial" panose="020B0604020202020204"/>
              </a:rPr>
              <a:t>données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52500" y="4175908"/>
            <a:ext cx="94615" cy="12953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650" spc="-50" dirty="0">
                <a:latin typeface="Lucida Sans Unicode" panose="020B0602030504020204"/>
                <a:cs typeface="Lucida Sans Unicode" panose="020B0602030504020204"/>
              </a:rPr>
              <a:t>●</a:t>
            </a:r>
            <a:endParaRPr sz="65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76503" y="4113627"/>
            <a:ext cx="243776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latin typeface="Arial" panose="020B0604020202020204"/>
                <a:cs typeface="Arial" panose="020B0604020202020204"/>
              </a:rPr>
              <a:t>Accessibilité</a:t>
            </a:r>
            <a:r>
              <a:rPr sz="1500" b="1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500" b="1" dirty="0">
                <a:latin typeface="Arial" panose="020B0604020202020204"/>
                <a:cs typeface="Arial" panose="020B0604020202020204"/>
              </a:rPr>
              <a:t>&amp;</a:t>
            </a:r>
            <a:r>
              <a:rPr sz="1500" b="1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1500" b="1" spc="-10" dirty="0">
                <a:latin typeface="Arial" panose="020B0604020202020204"/>
                <a:cs typeface="Arial" panose="020B0604020202020204"/>
              </a:rPr>
              <a:t>responsive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52500" y="4615112"/>
            <a:ext cx="94615" cy="12953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650" spc="-50" dirty="0">
                <a:latin typeface="Lucida Sans Unicode" panose="020B0602030504020204"/>
                <a:cs typeface="Lucida Sans Unicode" panose="020B0602030504020204"/>
              </a:rPr>
              <a:t>●</a:t>
            </a:r>
            <a:endParaRPr sz="65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76503" y="4552831"/>
            <a:ext cx="106108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latin typeface="Arial" panose="020B0604020202020204"/>
                <a:cs typeface="Arial" panose="020B0604020202020204"/>
              </a:rPr>
              <a:t>Conclusion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26094"/>
            <a:ext cx="10080625" cy="916940"/>
          </a:xfrm>
          <a:custGeom>
            <a:avLst/>
            <a:gdLst/>
            <a:ahLst/>
            <a:cxnLst/>
            <a:rect l="l" t="t" r="r" b="b"/>
            <a:pathLst>
              <a:path w="10080625" h="916940">
                <a:moveTo>
                  <a:pt x="10080002" y="0"/>
                </a:moveTo>
                <a:lnTo>
                  <a:pt x="0" y="0"/>
                </a:lnTo>
                <a:lnTo>
                  <a:pt x="0" y="916914"/>
                </a:lnTo>
                <a:lnTo>
                  <a:pt x="5039995" y="916914"/>
                </a:lnTo>
                <a:lnTo>
                  <a:pt x="10080002" y="916914"/>
                </a:lnTo>
                <a:lnTo>
                  <a:pt x="10080002" y="0"/>
                </a:lnTo>
                <a:close/>
              </a:path>
            </a:pathLst>
          </a:custGeom>
          <a:solidFill>
            <a:srgbClr val="00A8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0650">
              <a:lnSpc>
                <a:spcPct val="100000"/>
              </a:lnSpc>
              <a:spcBef>
                <a:spcPts val="100"/>
              </a:spcBef>
            </a:pPr>
            <a:r>
              <a:rPr sz="4800" b="1" spc="-10" dirty="0">
                <a:latin typeface="Arial" panose="020B0604020202020204"/>
                <a:cs typeface="Arial" panose="020B0604020202020204"/>
              </a:rPr>
              <a:t>Introduction</a:t>
            </a:r>
            <a:r>
              <a:rPr sz="4800" b="1" spc="-229" dirty="0">
                <a:latin typeface="Arial" panose="020B0604020202020204"/>
                <a:cs typeface="Arial" panose="020B0604020202020204"/>
              </a:rPr>
              <a:t> </a:t>
            </a:r>
            <a:r>
              <a:rPr sz="4800" b="1" spc="-10" dirty="0">
                <a:latin typeface="Arial" panose="020B0604020202020204"/>
                <a:cs typeface="Arial" panose="020B0604020202020204"/>
              </a:rPr>
              <a:t>générale</a:t>
            </a:r>
            <a:endParaRPr sz="4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9300" y="2135424"/>
            <a:ext cx="120650" cy="1689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950" spc="-50" dirty="0">
                <a:latin typeface="Lucida Sans Unicode" panose="020B0602030504020204"/>
                <a:cs typeface="Lucida Sans Unicode" panose="020B0602030504020204"/>
              </a:rPr>
              <a:t>●</a:t>
            </a:r>
            <a:endParaRPr sz="95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23302" y="2051541"/>
            <a:ext cx="8472805" cy="1810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430"/>
              </a:lnSpc>
              <a:spcBef>
                <a:spcPts val="100"/>
              </a:spcBef>
            </a:pPr>
            <a:r>
              <a:rPr sz="2100" dirty="0">
                <a:latin typeface="Arial MT"/>
                <a:cs typeface="Arial MT"/>
              </a:rPr>
              <a:t>But</a:t>
            </a:r>
            <a:r>
              <a:rPr sz="2100" spc="-3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du</a:t>
            </a:r>
            <a:r>
              <a:rPr sz="2100" spc="-4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projet</a:t>
            </a:r>
            <a:r>
              <a:rPr sz="2100" spc="-3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:</a:t>
            </a:r>
            <a:r>
              <a:rPr sz="2100" spc="-3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créer</a:t>
            </a:r>
            <a:r>
              <a:rPr sz="2100" spc="-4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un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site</a:t>
            </a:r>
            <a:r>
              <a:rPr sz="2100" spc="-3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statique</a:t>
            </a:r>
            <a:r>
              <a:rPr sz="2100" spc="-4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interactif</a:t>
            </a:r>
            <a:r>
              <a:rPr sz="2100" spc="-3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pour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un</a:t>
            </a:r>
            <a:r>
              <a:rPr sz="2100" spc="-4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café</a:t>
            </a:r>
            <a:r>
              <a:rPr sz="2100" spc="-35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(présentation</a:t>
            </a:r>
            <a:endParaRPr sz="2100">
              <a:latin typeface="Arial MT"/>
              <a:cs typeface="Arial MT"/>
            </a:endParaRPr>
          </a:p>
          <a:p>
            <a:pPr marL="12700">
              <a:lnSpc>
                <a:spcPts val="2430"/>
              </a:lnSpc>
            </a:pPr>
            <a:r>
              <a:rPr sz="2100" dirty="0">
                <a:latin typeface="Arial MT"/>
                <a:cs typeface="Arial MT"/>
              </a:rPr>
              <a:t>+</a:t>
            </a:r>
            <a:r>
              <a:rPr sz="2100" spc="-10" dirty="0">
                <a:latin typeface="Arial MT"/>
                <a:cs typeface="Arial MT"/>
              </a:rPr>
              <a:t> commande).</a:t>
            </a:r>
            <a:endParaRPr sz="2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2100" spc="-25" dirty="0">
                <a:latin typeface="Arial MT"/>
                <a:cs typeface="Arial MT"/>
              </a:rPr>
              <a:t>Technologies</a:t>
            </a:r>
            <a:r>
              <a:rPr sz="2100" spc="-5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:</a:t>
            </a:r>
            <a:r>
              <a:rPr sz="2100" spc="-5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HTML5,</a:t>
            </a:r>
            <a:r>
              <a:rPr sz="2100" spc="-4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CSS3,</a:t>
            </a:r>
            <a:r>
              <a:rPr sz="2100" spc="-45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JavaScript</a:t>
            </a:r>
            <a:endParaRPr sz="2100">
              <a:latin typeface="Arial MT"/>
              <a:cs typeface="Arial MT"/>
            </a:endParaRPr>
          </a:p>
          <a:p>
            <a:pPr marL="12700" marR="260350">
              <a:lnSpc>
                <a:spcPts val="2230"/>
              </a:lnSpc>
              <a:spcBef>
                <a:spcPts val="1245"/>
              </a:spcBef>
            </a:pPr>
            <a:r>
              <a:rPr sz="2000" dirty="0">
                <a:latin typeface="Arial MT"/>
                <a:cs typeface="Arial MT"/>
              </a:rPr>
              <a:t>Type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projet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: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application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monopage/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multi-</a:t>
            </a:r>
            <a:r>
              <a:rPr sz="2000" dirty="0">
                <a:latin typeface="Arial MT"/>
                <a:cs typeface="Arial MT"/>
              </a:rPr>
              <a:t>page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statique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(fichiers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.html </a:t>
            </a:r>
            <a:r>
              <a:rPr sz="2000" dirty="0">
                <a:latin typeface="Arial MT"/>
                <a:cs typeface="Arial MT"/>
              </a:rPr>
              <a:t>reliés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par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liens)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9300" y="2881346"/>
            <a:ext cx="120650" cy="1689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950" spc="-50" dirty="0">
                <a:latin typeface="Lucida Sans Unicode" panose="020B0602030504020204"/>
                <a:cs typeface="Lucida Sans Unicode" panose="020B0602030504020204"/>
              </a:rPr>
              <a:t>●</a:t>
            </a:r>
            <a:endParaRPr sz="95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99300" y="3325592"/>
            <a:ext cx="116839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latin typeface="Lucida Sans Unicode" panose="020B0602030504020204"/>
                <a:cs typeface="Lucida Sans Unicode" panose="020B0602030504020204"/>
              </a:rPr>
              <a:t>●</a:t>
            </a:r>
            <a:endParaRPr sz="900">
              <a:latin typeface="Lucida Sans Unicode" panose="020B0602030504020204"/>
              <a:cs typeface="Lucida Sans Unicode" panose="020B060203050402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26094"/>
            <a:ext cx="10058400" cy="916940"/>
          </a:xfrm>
          <a:custGeom>
            <a:avLst/>
            <a:gdLst/>
            <a:ahLst/>
            <a:cxnLst/>
            <a:rect l="l" t="t" r="r" b="b"/>
            <a:pathLst>
              <a:path w="10058400" h="916940">
                <a:moveTo>
                  <a:pt x="10058400" y="0"/>
                </a:moveTo>
                <a:lnTo>
                  <a:pt x="0" y="0"/>
                </a:lnTo>
                <a:lnTo>
                  <a:pt x="0" y="916914"/>
                </a:lnTo>
                <a:lnTo>
                  <a:pt x="5029200" y="916914"/>
                </a:lnTo>
                <a:lnTo>
                  <a:pt x="10058400" y="916914"/>
                </a:lnTo>
                <a:lnTo>
                  <a:pt x="10058400" y="0"/>
                </a:lnTo>
                <a:close/>
              </a:path>
            </a:pathLst>
          </a:custGeom>
          <a:solidFill>
            <a:srgbClr val="295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Arial" panose="020B0604020202020204"/>
                <a:cs typeface="Arial" panose="020B0604020202020204"/>
              </a:rPr>
              <a:t>Contexte</a:t>
            </a:r>
            <a:r>
              <a:rPr b="1" spc="-135" dirty="0">
                <a:latin typeface="Arial" panose="020B0604020202020204"/>
                <a:cs typeface="Arial" panose="020B0604020202020204"/>
              </a:rPr>
              <a:t> </a:t>
            </a:r>
            <a:r>
              <a:rPr b="1" dirty="0">
                <a:latin typeface="Arial" panose="020B0604020202020204"/>
                <a:cs typeface="Arial" panose="020B0604020202020204"/>
              </a:rPr>
              <a:t>et</a:t>
            </a:r>
            <a:r>
              <a:rPr b="1" spc="-130" dirty="0">
                <a:latin typeface="Arial" panose="020B0604020202020204"/>
                <a:cs typeface="Arial" panose="020B0604020202020204"/>
              </a:rPr>
              <a:t> </a:t>
            </a:r>
            <a:r>
              <a:rPr b="1" dirty="0">
                <a:latin typeface="Arial" panose="020B0604020202020204"/>
                <a:cs typeface="Arial" panose="020B0604020202020204"/>
              </a:rPr>
              <a:t>objectifs</a:t>
            </a:r>
            <a:r>
              <a:rPr b="1" spc="-135" dirty="0">
                <a:latin typeface="Arial" panose="020B0604020202020204"/>
                <a:cs typeface="Arial" panose="020B0604020202020204"/>
              </a:rPr>
              <a:t> </a:t>
            </a:r>
            <a:r>
              <a:rPr b="1" spc="-10" dirty="0">
                <a:latin typeface="Arial" panose="020B0604020202020204"/>
                <a:cs typeface="Arial" panose="020B0604020202020204"/>
              </a:rPr>
              <a:t>fonctionnels</a:t>
            </a:r>
            <a:endParaRPr b="1" spc="-1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1860" y="1903230"/>
            <a:ext cx="134620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spc="-50" dirty="0">
                <a:latin typeface="Lucida Sans Unicode" panose="020B0602030504020204"/>
                <a:cs typeface="Lucida Sans Unicode" panose="020B0602030504020204"/>
              </a:rPr>
              <a:t>●</a:t>
            </a:r>
            <a:endParaRPr sz="105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85863" y="1809276"/>
            <a:ext cx="7172325" cy="2412365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 marR="5080">
              <a:lnSpc>
                <a:spcPts val="2680"/>
              </a:lnSpc>
              <a:spcBef>
                <a:spcPts val="355"/>
              </a:spcBef>
            </a:pPr>
            <a:r>
              <a:rPr sz="2400" b="1" dirty="0">
                <a:latin typeface="Arial" panose="020B0604020202020204"/>
                <a:cs typeface="Arial" panose="020B0604020202020204"/>
              </a:rPr>
              <a:t>Public</a:t>
            </a:r>
            <a:r>
              <a:rPr sz="2400" b="1" spc="-70" dirty="0">
                <a:latin typeface="Arial" panose="020B0604020202020204"/>
                <a:cs typeface="Arial" panose="020B0604020202020204"/>
              </a:rPr>
              <a:t> </a:t>
            </a:r>
            <a:r>
              <a:rPr sz="2400" b="1" dirty="0">
                <a:latin typeface="Arial" panose="020B0604020202020204"/>
                <a:cs typeface="Arial" panose="020B0604020202020204"/>
              </a:rPr>
              <a:t>cible</a:t>
            </a:r>
            <a:r>
              <a:rPr sz="2400" b="1" spc="-60" dirty="0">
                <a:latin typeface="Arial" panose="020B0604020202020204"/>
                <a:cs typeface="Arial" panose="020B0604020202020204"/>
              </a:rPr>
              <a:t> </a:t>
            </a:r>
            <a:r>
              <a:rPr sz="2400" b="1" dirty="0">
                <a:latin typeface="Arial" panose="020B0604020202020204"/>
                <a:cs typeface="Arial" panose="020B0604020202020204"/>
              </a:rPr>
              <a:t>:</a:t>
            </a:r>
            <a:r>
              <a:rPr sz="2400" b="1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2400" dirty="0">
                <a:latin typeface="Arial MT"/>
                <a:cs typeface="Arial MT"/>
              </a:rPr>
              <a:t>clients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souhaitant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consulter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menu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et </a:t>
            </a:r>
            <a:r>
              <a:rPr sz="2400" dirty="0">
                <a:latin typeface="Arial MT"/>
                <a:cs typeface="Arial MT"/>
              </a:rPr>
              <a:t>commander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en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ligne.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135"/>
              </a:spcBef>
            </a:pPr>
            <a:r>
              <a:rPr sz="2600" b="1" u="sng" dirty="0">
                <a:uFill>
                  <a:solidFill>
                    <a:srgbClr val="000000"/>
                  </a:solidFill>
                </a:uFill>
                <a:latin typeface="Arial" panose="020B0604020202020204"/>
                <a:cs typeface="Arial" panose="020B0604020202020204"/>
              </a:rPr>
              <a:t>Objectifs</a:t>
            </a:r>
            <a:r>
              <a:rPr sz="2600" b="1" u="sng" spc="-160" dirty="0">
                <a:uFill>
                  <a:solidFill>
                    <a:srgbClr val="000000"/>
                  </a:solidFill>
                </a:uFill>
                <a:latin typeface="Arial" panose="020B0604020202020204"/>
                <a:cs typeface="Arial" panose="020B0604020202020204"/>
              </a:rPr>
              <a:t> </a:t>
            </a:r>
            <a:r>
              <a:rPr sz="2600" b="1" u="sng" spc="-50" dirty="0">
                <a:uFill>
                  <a:solidFill>
                    <a:srgbClr val="000000"/>
                  </a:solidFill>
                </a:uFill>
                <a:latin typeface="Arial" panose="020B0604020202020204"/>
                <a:cs typeface="Arial" panose="020B0604020202020204"/>
              </a:rPr>
              <a:t>:</a:t>
            </a:r>
            <a:endParaRPr sz="2600">
              <a:latin typeface="Arial" panose="020B0604020202020204"/>
              <a:cs typeface="Arial" panose="020B0604020202020204"/>
            </a:endParaRPr>
          </a:p>
          <a:p>
            <a:pPr marL="213360" marR="2541270">
              <a:lnSpc>
                <a:spcPct val="155000"/>
              </a:lnSpc>
              <a:spcBef>
                <a:spcPts val="15"/>
              </a:spcBef>
            </a:pPr>
            <a:r>
              <a:rPr sz="1600" dirty="0">
                <a:latin typeface="Arial MT"/>
                <a:cs typeface="Arial MT"/>
              </a:rPr>
              <a:t>Présenter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le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menu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et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images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des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produits. </a:t>
            </a:r>
            <a:r>
              <a:rPr sz="1600" dirty="0">
                <a:latin typeface="Arial MT"/>
                <a:cs typeface="Arial MT"/>
              </a:rPr>
              <a:t>Permettre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d’ajouter/retirer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des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produits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au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panier.</a:t>
            </a:r>
            <a:endParaRPr sz="1600">
              <a:latin typeface="Arial MT"/>
              <a:cs typeface="Arial MT"/>
            </a:endParaRPr>
          </a:p>
          <a:p>
            <a:pPr marL="213360">
              <a:lnSpc>
                <a:spcPct val="100000"/>
              </a:lnSpc>
              <a:spcBef>
                <a:spcPts val="1050"/>
              </a:spcBef>
            </a:pPr>
            <a:r>
              <a:rPr sz="1600" dirty="0">
                <a:latin typeface="Arial MT"/>
                <a:cs typeface="Arial MT"/>
              </a:rPr>
              <a:t>Sauvegarder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panier/messages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en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local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(localStorage).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1860" y="2769396"/>
            <a:ext cx="144145" cy="2038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50" spc="-50" dirty="0">
                <a:latin typeface="Lucida Sans Unicode" panose="020B0602030504020204"/>
                <a:cs typeface="Lucida Sans Unicode" panose="020B0602030504020204"/>
              </a:rPr>
              <a:t>●</a:t>
            </a:r>
            <a:endParaRPr sz="115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63104" y="3261508"/>
            <a:ext cx="98425" cy="1352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700" spc="-50" dirty="0">
                <a:latin typeface="Lucida Sans Unicode" panose="020B0602030504020204"/>
                <a:cs typeface="Lucida Sans Unicode" panose="020B0602030504020204"/>
              </a:rPr>
              <a:t>●</a:t>
            </a:r>
            <a:endParaRPr sz="70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63104" y="3638431"/>
            <a:ext cx="98425" cy="1352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700" spc="-50" dirty="0">
                <a:latin typeface="Lucida Sans Unicode" panose="020B0602030504020204"/>
                <a:cs typeface="Lucida Sans Unicode" panose="020B0602030504020204"/>
              </a:rPr>
              <a:t>●</a:t>
            </a:r>
            <a:endParaRPr sz="70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63104" y="4015355"/>
            <a:ext cx="98425" cy="1352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700" spc="-50" dirty="0">
                <a:latin typeface="Lucida Sans Unicode" panose="020B0602030504020204"/>
                <a:cs typeface="Lucida Sans Unicode" panose="020B0602030504020204"/>
              </a:rPr>
              <a:t>●</a:t>
            </a:r>
            <a:endParaRPr sz="70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63104" y="4442303"/>
            <a:ext cx="98425" cy="1352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700" spc="-50" dirty="0">
                <a:latin typeface="Lucida Sans Unicode" panose="020B0602030504020204"/>
                <a:cs typeface="Lucida Sans Unicode" panose="020B0602030504020204"/>
              </a:rPr>
              <a:t>●</a:t>
            </a:r>
            <a:endParaRPr sz="70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87094" y="4378955"/>
            <a:ext cx="55924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Arial MT"/>
                <a:cs typeface="Arial MT"/>
              </a:rPr>
              <a:t>Page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d’administration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simple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pour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lire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messages/commandes.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26094"/>
            <a:ext cx="10080625" cy="916940"/>
          </a:xfrm>
          <a:custGeom>
            <a:avLst/>
            <a:gdLst/>
            <a:ahLst/>
            <a:cxnLst/>
            <a:rect l="l" t="t" r="r" b="b"/>
            <a:pathLst>
              <a:path w="10080625" h="916940">
                <a:moveTo>
                  <a:pt x="10080002" y="0"/>
                </a:moveTo>
                <a:lnTo>
                  <a:pt x="0" y="0"/>
                </a:lnTo>
                <a:lnTo>
                  <a:pt x="0" y="916914"/>
                </a:lnTo>
                <a:lnTo>
                  <a:pt x="5039995" y="916914"/>
                </a:lnTo>
                <a:lnTo>
                  <a:pt x="10080002" y="916914"/>
                </a:lnTo>
                <a:lnTo>
                  <a:pt x="10080002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70075">
              <a:lnSpc>
                <a:spcPct val="100000"/>
              </a:lnSpc>
              <a:spcBef>
                <a:spcPts val="100"/>
              </a:spcBef>
            </a:pPr>
            <a:r>
              <a:rPr sz="4000" b="1" dirty="0">
                <a:latin typeface="Arial" panose="020B0604020202020204"/>
                <a:cs typeface="Arial" panose="020B0604020202020204"/>
              </a:rPr>
              <a:t>Analyse</a:t>
            </a:r>
            <a:r>
              <a:rPr sz="4000" b="1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4000" b="1" dirty="0">
                <a:latin typeface="Arial" panose="020B0604020202020204"/>
                <a:cs typeface="Arial" panose="020B0604020202020204"/>
              </a:rPr>
              <a:t>&amp;</a:t>
            </a:r>
            <a:r>
              <a:rPr sz="4000" b="1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4000" b="1" spc="-10" dirty="0">
                <a:latin typeface="Arial" panose="020B0604020202020204"/>
                <a:cs typeface="Arial" panose="020B0604020202020204"/>
              </a:rPr>
              <a:t>conception</a:t>
            </a:r>
            <a:endParaRPr sz="40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432561" y="1371240"/>
            <a:ext cx="2168639" cy="328824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31825" y="1356025"/>
            <a:ext cx="6667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310" dirty="0">
                <a:latin typeface="Lucida Sans Unicode" panose="020B0602030504020204"/>
                <a:cs typeface="Lucida Sans Unicode" panose="020B0602030504020204"/>
              </a:rPr>
              <a:t>•</a:t>
            </a:r>
            <a:endParaRPr sz="90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7814" y="1278263"/>
            <a:ext cx="49663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Structure</a:t>
            </a:r>
            <a:r>
              <a:rPr sz="2000" b="1" spc="-4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du</a:t>
            </a:r>
            <a:r>
              <a:rPr sz="2000" b="1" spc="-3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projet</a:t>
            </a:r>
            <a:r>
              <a:rPr sz="2000" b="1" spc="-4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(fichiers</a:t>
            </a:r>
            <a:r>
              <a:rPr sz="2000" b="1" spc="-3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principaux)</a:t>
            </a:r>
            <a:r>
              <a:rPr sz="2000" b="1" spc="-4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-5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: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91819" y="1790556"/>
            <a:ext cx="6667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310" dirty="0">
                <a:latin typeface="Lucida Sans Unicode" panose="020B0602030504020204"/>
                <a:cs typeface="Lucida Sans Unicode" panose="020B0602030504020204"/>
              </a:rPr>
              <a:t>•</a:t>
            </a:r>
            <a:endParaRPr sz="90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07821" y="1583261"/>
            <a:ext cx="6399530" cy="2632710"/>
          </a:xfrm>
          <a:prstGeom prst="rect">
            <a:avLst/>
          </a:prstGeom>
        </p:spPr>
        <p:txBody>
          <a:bodyPr vert="horz" wrap="square" lIns="0" tIns="142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sz="2000" b="1" dirty="0">
                <a:latin typeface="Arial" panose="020B0604020202020204"/>
                <a:cs typeface="Arial" panose="020B0604020202020204"/>
              </a:rPr>
              <a:t>index.html</a:t>
            </a:r>
            <a:r>
              <a:rPr sz="2000" b="1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latin typeface="Arial MT"/>
                <a:cs typeface="Arial MT"/>
              </a:rPr>
              <a:t>—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page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d’accueil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/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menu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20"/>
              </a:spcBef>
            </a:pPr>
            <a:r>
              <a:rPr sz="2000" b="1" spc="-10" dirty="0">
                <a:latin typeface="Arial" panose="020B0604020202020204"/>
                <a:cs typeface="Arial" panose="020B0604020202020204"/>
              </a:rPr>
              <a:t>order.html </a:t>
            </a:r>
            <a:r>
              <a:rPr sz="2000" dirty="0">
                <a:latin typeface="Arial MT"/>
                <a:cs typeface="Arial MT"/>
              </a:rPr>
              <a:t>—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page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commande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/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panier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25"/>
              </a:spcBef>
            </a:pPr>
            <a:r>
              <a:rPr sz="2000" b="1" dirty="0">
                <a:latin typeface="Arial" panose="020B0604020202020204"/>
                <a:cs typeface="Arial" panose="020B0604020202020204"/>
              </a:rPr>
              <a:t>data.html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latin typeface="Arial MT"/>
                <a:cs typeface="Arial MT"/>
              </a:rPr>
              <a:t>—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page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«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admin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»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(messages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&amp;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commandes)</a:t>
            </a:r>
            <a:endParaRPr sz="2000">
              <a:latin typeface="Arial MT"/>
              <a:cs typeface="Arial MT"/>
            </a:endParaRPr>
          </a:p>
          <a:p>
            <a:pPr marL="12700" marR="1682750">
              <a:lnSpc>
                <a:spcPts val="3420"/>
              </a:lnSpc>
              <a:spcBef>
                <a:spcPts val="100"/>
              </a:spcBef>
            </a:pPr>
            <a:r>
              <a:rPr sz="2000" b="1" dirty="0">
                <a:latin typeface="Arial" panose="020B0604020202020204"/>
                <a:cs typeface="Arial" panose="020B0604020202020204"/>
              </a:rPr>
              <a:t>styles.css,</a:t>
            </a:r>
            <a:r>
              <a:rPr sz="2000" b="1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-10" dirty="0">
                <a:latin typeface="Arial" panose="020B0604020202020204"/>
                <a:cs typeface="Arial" panose="020B0604020202020204"/>
              </a:rPr>
              <a:t>order.css,</a:t>
            </a:r>
            <a:r>
              <a:rPr sz="2000" b="1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data.css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latin typeface="Arial MT"/>
                <a:cs typeface="Arial MT"/>
              </a:rPr>
              <a:t>—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styles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script.js,</a:t>
            </a:r>
            <a:r>
              <a:rPr sz="2000" b="1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-10" dirty="0">
                <a:latin typeface="Arial" panose="020B0604020202020204"/>
                <a:cs typeface="Arial" panose="020B0604020202020204"/>
              </a:rPr>
              <a:t>order.js,</a:t>
            </a:r>
            <a:r>
              <a:rPr sz="2000" b="1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data.js </a:t>
            </a:r>
            <a:r>
              <a:rPr sz="2000" dirty="0">
                <a:latin typeface="Arial MT"/>
                <a:cs typeface="Arial MT"/>
              </a:rPr>
              <a:t>—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logique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JS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dossier</a:t>
            </a:r>
            <a:r>
              <a:rPr sz="2000" b="1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assets/png/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latin typeface="Arial MT"/>
                <a:cs typeface="Arial MT"/>
              </a:rPr>
              <a:t>—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images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du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projet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91819" y="2225074"/>
            <a:ext cx="6667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310" dirty="0">
                <a:latin typeface="Lucida Sans Unicode" panose="020B0602030504020204"/>
                <a:cs typeface="Lucida Sans Unicode" panose="020B0602030504020204"/>
              </a:rPr>
              <a:t>•</a:t>
            </a:r>
            <a:endParaRPr sz="90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91819" y="2659591"/>
            <a:ext cx="6667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310" dirty="0">
                <a:latin typeface="Lucida Sans Unicode" panose="020B0602030504020204"/>
                <a:cs typeface="Lucida Sans Unicode" panose="020B0602030504020204"/>
              </a:rPr>
              <a:t>•</a:t>
            </a:r>
            <a:endParaRPr sz="90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91819" y="3094109"/>
            <a:ext cx="6667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310" dirty="0">
                <a:latin typeface="Lucida Sans Unicode" panose="020B0602030504020204"/>
                <a:cs typeface="Lucida Sans Unicode" panose="020B0602030504020204"/>
              </a:rPr>
              <a:t>•</a:t>
            </a:r>
            <a:endParaRPr sz="90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91819" y="3528627"/>
            <a:ext cx="6667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310" dirty="0">
                <a:latin typeface="Lucida Sans Unicode" panose="020B0602030504020204"/>
                <a:cs typeface="Lucida Sans Unicode" panose="020B0602030504020204"/>
              </a:rPr>
              <a:t>•</a:t>
            </a:r>
            <a:endParaRPr sz="90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91819" y="3963145"/>
            <a:ext cx="6667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310" dirty="0">
                <a:latin typeface="Lucida Sans Unicode" panose="020B0602030504020204"/>
                <a:cs typeface="Lucida Sans Unicode" panose="020B0602030504020204"/>
              </a:rPr>
              <a:t>•</a:t>
            </a:r>
            <a:endParaRPr sz="900">
              <a:latin typeface="Lucida Sans Unicode" panose="020B0602030504020204"/>
              <a:cs typeface="Lucida Sans Unicode" panose="020B060203050402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26094"/>
            <a:ext cx="10080625" cy="916940"/>
          </a:xfrm>
          <a:custGeom>
            <a:avLst/>
            <a:gdLst/>
            <a:ahLst/>
            <a:cxnLst/>
            <a:rect l="l" t="t" r="r" b="b"/>
            <a:pathLst>
              <a:path w="10080625" h="916940">
                <a:moveTo>
                  <a:pt x="10080002" y="0"/>
                </a:moveTo>
                <a:lnTo>
                  <a:pt x="0" y="0"/>
                </a:lnTo>
                <a:lnTo>
                  <a:pt x="0" y="916914"/>
                </a:lnTo>
                <a:lnTo>
                  <a:pt x="5039995" y="916914"/>
                </a:lnTo>
                <a:lnTo>
                  <a:pt x="10080002" y="916914"/>
                </a:lnTo>
                <a:lnTo>
                  <a:pt x="10080002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43380">
              <a:lnSpc>
                <a:spcPct val="100000"/>
              </a:lnSpc>
              <a:spcBef>
                <a:spcPts val="100"/>
              </a:spcBef>
            </a:pPr>
            <a:r>
              <a:rPr sz="4800" spc="-550" dirty="0"/>
              <a:t>T</a:t>
            </a:r>
            <a:r>
              <a:rPr sz="4800" spc="-5" dirty="0"/>
              <a:t>echnologies</a:t>
            </a:r>
            <a:r>
              <a:rPr sz="4800" spc="-110" dirty="0"/>
              <a:t> </a:t>
            </a:r>
            <a:r>
              <a:rPr sz="4800" dirty="0"/>
              <a:t>&amp;</a:t>
            </a:r>
            <a:r>
              <a:rPr sz="4800" spc="-125" dirty="0"/>
              <a:t> </a:t>
            </a:r>
            <a:r>
              <a:rPr sz="4800" spc="-10" dirty="0"/>
              <a:t>outils</a:t>
            </a:r>
            <a:endParaRPr sz="4800"/>
          </a:p>
        </p:txBody>
      </p:sp>
      <p:sp>
        <p:nvSpPr>
          <p:cNvPr id="4" name="object 4"/>
          <p:cNvSpPr txBox="1"/>
          <p:nvPr/>
        </p:nvSpPr>
        <p:spPr>
          <a:xfrm>
            <a:off x="1211300" y="1847439"/>
            <a:ext cx="9779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0" dirty="0">
                <a:latin typeface="Lucida Sans Unicode" panose="020B0602030504020204"/>
                <a:cs typeface="Lucida Sans Unicode" panose="020B0602030504020204"/>
              </a:rPr>
              <a:t>•</a:t>
            </a:r>
            <a:endParaRPr sz="160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42240" rIns="0" bIns="0" rtlCol="0">
            <a:spAutoFit/>
          </a:bodyPr>
          <a:lstStyle/>
          <a:p>
            <a:pPr marL="44450">
              <a:lnSpc>
                <a:spcPct val="100000"/>
              </a:lnSpc>
              <a:spcBef>
                <a:spcPts val="1120"/>
              </a:spcBef>
            </a:pPr>
            <a:r>
              <a:rPr b="1" dirty="0">
                <a:latin typeface="Arial" panose="020B0604020202020204"/>
                <a:cs typeface="Arial" panose="020B0604020202020204"/>
              </a:rPr>
              <a:t>localStorage</a:t>
            </a:r>
            <a:r>
              <a:rPr b="1" spc="-20" dirty="0">
                <a:latin typeface="Arial" panose="020B0604020202020204"/>
                <a:cs typeface="Arial" panose="020B0604020202020204"/>
              </a:rPr>
              <a:t> </a:t>
            </a:r>
            <a:r>
              <a:rPr dirty="0"/>
              <a:t>pour</a:t>
            </a:r>
            <a:r>
              <a:rPr spc="-40" dirty="0"/>
              <a:t> </a:t>
            </a:r>
            <a:r>
              <a:rPr dirty="0"/>
              <a:t>persistance</a:t>
            </a:r>
            <a:r>
              <a:rPr spc="-30" dirty="0"/>
              <a:t> </a:t>
            </a:r>
            <a:r>
              <a:rPr spc="-10" dirty="0"/>
              <a:t>(panier,</a:t>
            </a:r>
            <a:r>
              <a:rPr spc="-40" dirty="0"/>
              <a:t> </a:t>
            </a:r>
            <a:r>
              <a:rPr dirty="0"/>
              <a:t>messages,</a:t>
            </a:r>
            <a:r>
              <a:rPr spc="-35" dirty="0"/>
              <a:t> </a:t>
            </a:r>
            <a:r>
              <a:rPr spc="-10" dirty="0"/>
              <a:t>commandes)</a:t>
            </a:r>
            <a:endParaRPr spc="-10" dirty="0"/>
          </a:p>
          <a:p>
            <a:pPr marL="44450">
              <a:lnSpc>
                <a:spcPct val="100000"/>
              </a:lnSpc>
              <a:spcBef>
                <a:spcPts val="1020"/>
              </a:spcBef>
            </a:pPr>
            <a:r>
              <a:rPr b="1" dirty="0">
                <a:latin typeface="Arial" panose="020B0604020202020204"/>
                <a:cs typeface="Arial" panose="020B0604020202020204"/>
              </a:rPr>
              <a:t>Images</a:t>
            </a:r>
            <a:r>
              <a:rPr b="1" spc="-25" dirty="0">
                <a:latin typeface="Arial" panose="020B0604020202020204"/>
                <a:cs typeface="Arial" panose="020B0604020202020204"/>
              </a:rPr>
              <a:t> </a:t>
            </a:r>
            <a:r>
              <a:rPr b="1" dirty="0">
                <a:latin typeface="Arial" panose="020B0604020202020204"/>
                <a:cs typeface="Arial" panose="020B0604020202020204"/>
              </a:rPr>
              <a:t>locales</a:t>
            </a:r>
            <a:r>
              <a:rPr b="1" spc="-5" dirty="0">
                <a:latin typeface="Arial" panose="020B0604020202020204"/>
                <a:cs typeface="Arial" panose="020B0604020202020204"/>
              </a:rPr>
              <a:t> </a:t>
            </a:r>
            <a:r>
              <a:rPr dirty="0"/>
              <a:t>(optimisées</a:t>
            </a:r>
            <a:r>
              <a:rPr spc="-20" dirty="0"/>
              <a:t> </a:t>
            </a:r>
            <a:r>
              <a:rPr dirty="0"/>
              <a:t>dans</a:t>
            </a:r>
            <a:r>
              <a:rPr spc="-20" dirty="0"/>
              <a:t> </a:t>
            </a:r>
            <a:r>
              <a:rPr spc="-10" dirty="0"/>
              <a:t>assets/png/)</a:t>
            </a:r>
            <a:endParaRPr spc="-10" dirty="0"/>
          </a:p>
          <a:p>
            <a:pPr marL="44450">
              <a:lnSpc>
                <a:spcPct val="100000"/>
              </a:lnSpc>
              <a:spcBef>
                <a:spcPts val="1020"/>
              </a:spcBef>
            </a:pPr>
            <a:r>
              <a:rPr b="1" dirty="0">
                <a:latin typeface="Arial" panose="020B0604020202020204"/>
                <a:cs typeface="Arial" panose="020B0604020202020204"/>
              </a:rPr>
              <a:t>Outils</a:t>
            </a:r>
            <a:r>
              <a:rPr b="1" spc="-35" dirty="0">
                <a:latin typeface="Arial" panose="020B0604020202020204"/>
                <a:cs typeface="Arial" panose="020B0604020202020204"/>
              </a:rPr>
              <a:t> </a:t>
            </a:r>
            <a:r>
              <a:rPr b="1" dirty="0">
                <a:latin typeface="Arial" panose="020B0604020202020204"/>
                <a:cs typeface="Arial" panose="020B0604020202020204"/>
              </a:rPr>
              <a:t>de</a:t>
            </a:r>
            <a:r>
              <a:rPr b="1" spc="-25" dirty="0">
                <a:latin typeface="Arial" panose="020B0604020202020204"/>
                <a:cs typeface="Arial" panose="020B0604020202020204"/>
              </a:rPr>
              <a:t> </a:t>
            </a:r>
            <a:r>
              <a:rPr b="1" dirty="0">
                <a:latin typeface="Arial" panose="020B0604020202020204"/>
                <a:cs typeface="Arial" panose="020B0604020202020204"/>
              </a:rPr>
              <a:t>développement</a:t>
            </a:r>
            <a:r>
              <a:rPr b="1" spc="10" dirty="0">
                <a:latin typeface="Arial" panose="020B0604020202020204"/>
                <a:cs typeface="Arial" panose="020B0604020202020204"/>
              </a:rPr>
              <a:t> </a:t>
            </a:r>
            <a:r>
              <a:rPr dirty="0"/>
              <a:t>:</a:t>
            </a:r>
            <a:r>
              <a:rPr spc="-30" dirty="0"/>
              <a:t> </a:t>
            </a:r>
            <a:r>
              <a:rPr dirty="0"/>
              <a:t>VS</a:t>
            </a:r>
            <a:r>
              <a:rPr spc="-25" dirty="0"/>
              <a:t> </a:t>
            </a:r>
            <a:r>
              <a:rPr dirty="0"/>
              <a:t>Code,</a:t>
            </a:r>
            <a:r>
              <a:rPr spc="-35" dirty="0"/>
              <a:t> </a:t>
            </a:r>
            <a:r>
              <a:rPr dirty="0"/>
              <a:t>navigateur</a:t>
            </a:r>
            <a:r>
              <a:rPr spc="-30" dirty="0"/>
              <a:t> </a:t>
            </a:r>
            <a:r>
              <a:rPr dirty="0"/>
              <a:t>pour</a:t>
            </a:r>
            <a:r>
              <a:rPr spc="-30" dirty="0"/>
              <a:t> </a:t>
            </a:r>
            <a:r>
              <a:rPr spc="-10" dirty="0"/>
              <a:t>tests</a:t>
            </a:r>
            <a:endParaRPr spc="-10" dirty="0"/>
          </a:p>
          <a:p>
            <a:pPr marL="44450">
              <a:lnSpc>
                <a:spcPct val="100000"/>
              </a:lnSpc>
              <a:spcBef>
                <a:spcPts val="1025"/>
              </a:spcBef>
            </a:pPr>
            <a:r>
              <a:rPr b="1" dirty="0">
                <a:latin typeface="Arial" panose="020B0604020202020204"/>
                <a:cs typeface="Arial" panose="020B0604020202020204"/>
              </a:rPr>
              <a:t>JavaScript</a:t>
            </a:r>
            <a:r>
              <a:rPr b="1" spc="-10" dirty="0">
                <a:latin typeface="Arial" panose="020B0604020202020204"/>
                <a:cs typeface="Arial" panose="020B0604020202020204"/>
              </a:rPr>
              <a:t> </a:t>
            </a:r>
            <a:r>
              <a:rPr dirty="0"/>
              <a:t>pour</a:t>
            </a:r>
            <a:r>
              <a:rPr spc="-35" dirty="0"/>
              <a:t> </a:t>
            </a:r>
            <a:r>
              <a:rPr dirty="0"/>
              <a:t>fetch</a:t>
            </a:r>
            <a:r>
              <a:rPr spc="-30" dirty="0"/>
              <a:t> </a:t>
            </a:r>
            <a:r>
              <a:rPr dirty="0"/>
              <a:t>(usage),</a:t>
            </a:r>
            <a:r>
              <a:rPr spc="-30" dirty="0"/>
              <a:t> </a:t>
            </a:r>
            <a:r>
              <a:rPr dirty="0"/>
              <a:t>gestion</a:t>
            </a:r>
            <a:r>
              <a:rPr spc="-35" dirty="0"/>
              <a:t> </a:t>
            </a:r>
            <a:r>
              <a:rPr dirty="0"/>
              <a:t>du</a:t>
            </a:r>
            <a:r>
              <a:rPr spc="-30" dirty="0"/>
              <a:t> </a:t>
            </a:r>
            <a:r>
              <a:rPr spc="-10" dirty="0"/>
              <a:t>panier</a:t>
            </a:r>
            <a:endParaRPr spc="-10" dirty="0"/>
          </a:p>
        </p:txBody>
      </p:sp>
      <p:sp>
        <p:nvSpPr>
          <p:cNvPr id="6" name="object 6"/>
          <p:cNvSpPr txBox="1"/>
          <p:nvPr/>
        </p:nvSpPr>
        <p:spPr>
          <a:xfrm>
            <a:off x="1211300" y="2281957"/>
            <a:ext cx="9779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0" dirty="0">
                <a:latin typeface="Lucida Sans Unicode" panose="020B0602030504020204"/>
                <a:cs typeface="Lucida Sans Unicode" panose="020B0602030504020204"/>
              </a:rPr>
              <a:t>•</a:t>
            </a:r>
            <a:endParaRPr sz="160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11300" y="2716475"/>
            <a:ext cx="9779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0" dirty="0">
                <a:latin typeface="Lucida Sans Unicode" panose="020B0602030504020204"/>
                <a:cs typeface="Lucida Sans Unicode" panose="020B0602030504020204"/>
              </a:rPr>
              <a:t>•</a:t>
            </a:r>
            <a:endParaRPr sz="160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11300" y="3150993"/>
            <a:ext cx="9779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0" dirty="0">
                <a:latin typeface="Lucida Sans Unicode" panose="020B0602030504020204"/>
                <a:cs typeface="Lucida Sans Unicode" panose="020B0602030504020204"/>
              </a:rPr>
              <a:t>•</a:t>
            </a:r>
            <a:endParaRPr sz="1600">
              <a:latin typeface="Lucida Sans Unicode" panose="020B0602030504020204"/>
              <a:cs typeface="Lucida Sans Unicode" panose="020B060203050402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334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Arial" panose="020B0604020202020204"/>
                <a:cs typeface="Arial" panose="020B0604020202020204"/>
              </a:rPr>
              <a:t>Page</a:t>
            </a:r>
            <a:r>
              <a:rPr b="1" spc="-155" dirty="0">
                <a:latin typeface="Arial" panose="020B0604020202020204"/>
                <a:cs typeface="Arial" panose="020B0604020202020204"/>
              </a:rPr>
              <a:t> </a:t>
            </a:r>
            <a:r>
              <a:rPr b="1" dirty="0">
                <a:latin typeface="Arial" panose="020B0604020202020204"/>
                <a:cs typeface="Arial" panose="020B0604020202020204"/>
              </a:rPr>
              <a:t>index.html</a:t>
            </a:r>
            <a:r>
              <a:rPr b="1" spc="-155" dirty="0">
                <a:latin typeface="Arial" panose="020B0604020202020204"/>
                <a:cs typeface="Arial" panose="020B0604020202020204"/>
              </a:rPr>
              <a:t> </a:t>
            </a:r>
            <a:r>
              <a:rPr b="1" dirty="0">
                <a:latin typeface="Arial" panose="020B0604020202020204"/>
                <a:cs typeface="Arial" panose="020B0604020202020204"/>
              </a:rPr>
              <a:t>(accueil</a:t>
            </a:r>
            <a:r>
              <a:rPr b="1" spc="-155" dirty="0">
                <a:latin typeface="Arial" panose="020B0604020202020204"/>
                <a:cs typeface="Arial" panose="020B0604020202020204"/>
              </a:rPr>
              <a:t> </a:t>
            </a:r>
            <a:r>
              <a:rPr b="1" dirty="0">
                <a:latin typeface="Arial" panose="020B0604020202020204"/>
                <a:cs typeface="Arial" panose="020B0604020202020204"/>
              </a:rPr>
              <a:t>&amp;</a:t>
            </a:r>
            <a:r>
              <a:rPr b="1" spc="-150" dirty="0">
                <a:latin typeface="Arial" panose="020B0604020202020204"/>
                <a:cs typeface="Arial" panose="020B0604020202020204"/>
              </a:rPr>
              <a:t> </a:t>
            </a:r>
            <a:r>
              <a:rPr b="1" spc="-10" dirty="0">
                <a:latin typeface="Arial" panose="020B0604020202020204"/>
                <a:cs typeface="Arial" panose="020B0604020202020204"/>
              </a:rPr>
              <a:t>menu)</a:t>
            </a:r>
            <a:endParaRPr b="1" spc="-10" dirty="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486400" y="1371240"/>
            <a:ext cx="4343400" cy="4115435"/>
            <a:chOff x="5486400" y="1371240"/>
            <a:chExt cx="4343400" cy="4115435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486400" y="3441975"/>
              <a:ext cx="4343400" cy="204407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01157" y="1371240"/>
              <a:ext cx="4328642" cy="2027885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228600" y="1371608"/>
            <a:ext cx="5029200" cy="4114800"/>
          </a:xfrm>
          <a:custGeom>
            <a:avLst/>
            <a:gdLst/>
            <a:ahLst/>
            <a:cxnLst/>
            <a:rect l="l" t="t" r="r" b="b"/>
            <a:pathLst>
              <a:path w="5029200" h="4114800">
                <a:moveTo>
                  <a:pt x="5029200" y="0"/>
                </a:moveTo>
                <a:lnTo>
                  <a:pt x="0" y="0"/>
                </a:lnTo>
                <a:lnTo>
                  <a:pt x="0" y="4114800"/>
                </a:lnTo>
                <a:lnTo>
                  <a:pt x="2514600" y="4114800"/>
                </a:lnTo>
                <a:lnTo>
                  <a:pt x="5029200" y="4114800"/>
                </a:lnTo>
                <a:lnTo>
                  <a:pt x="50292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344055" y="1471938"/>
            <a:ext cx="1162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610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•</a:t>
            </a:r>
            <a:endParaRPr sz="200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4055" y="2258183"/>
            <a:ext cx="1162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610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•</a:t>
            </a:r>
            <a:endParaRPr sz="200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44055" y="3044427"/>
            <a:ext cx="1162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610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•</a:t>
            </a:r>
            <a:endParaRPr sz="200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44055" y="4113983"/>
            <a:ext cx="1162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610" dirty="0">
                <a:solidFill>
                  <a:srgbClr val="FFFFFF"/>
                </a:solidFill>
                <a:latin typeface="Lucida Sans Unicode" panose="020B0602030504020204"/>
                <a:cs typeface="Lucida Sans Unicode" panose="020B0602030504020204"/>
              </a:rPr>
              <a:t>•</a:t>
            </a:r>
            <a:endParaRPr sz="200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60057" y="1499663"/>
            <a:ext cx="4662170" cy="353949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 marR="62230" indent="70485">
              <a:lnSpc>
                <a:spcPts val="2230"/>
              </a:lnSpc>
              <a:spcBef>
                <a:spcPts val="315"/>
              </a:spcBef>
            </a:pPr>
            <a:r>
              <a:rPr sz="2000" b="1" dirty="0">
                <a:solidFill>
                  <a:srgbClr val="FF3F00"/>
                </a:solidFill>
                <a:latin typeface="Arial" panose="020B0604020202020204"/>
                <a:cs typeface="Arial" panose="020B0604020202020204"/>
              </a:rPr>
              <a:t>Présentation</a:t>
            </a:r>
            <a:r>
              <a:rPr sz="2000" b="1" spc="-45" dirty="0">
                <a:solidFill>
                  <a:srgbClr val="FF3F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solidFill>
                  <a:srgbClr val="FF3F00"/>
                </a:solidFill>
                <a:latin typeface="Arial" panose="020B0604020202020204"/>
                <a:cs typeface="Arial" panose="020B0604020202020204"/>
              </a:rPr>
              <a:t>visuelle</a:t>
            </a:r>
            <a:r>
              <a:rPr sz="2000" b="1" spc="-40" dirty="0">
                <a:solidFill>
                  <a:srgbClr val="FF3F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solidFill>
                  <a:srgbClr val="FF3F00"/>
                </a:solidFill>
                <a:latin typeface="Arial" panose="020B0604020202020204"/>
                <a:cs typeface="Arial" panose="020B0604020202020204"/>
              </a:rPr>
              <a:t>: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logo,</a:t>
            </a:r>
            <a:r>
              <a:rPr sz="20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titre,</a:t>
            </a:r>
            <a:r>
              <a:rPr sz="20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 MT"/>
                <a:cs typeface="Arial MT"/>
              </a:rPr>
              <a:t>texte d’accroche.</a:t>
            </a:r>
            <a:endParaRPr sz="2000">
              <a:latin typeface="Arial MT"/>
              <a:cs typeface="Arial MT"/>
            </a:endParaRPr>
          </a:p>
          <a:p>
            <a:pPr marL="83185">
              <a:lnSpc>
                <a:spcPts val="2315"/>
              </a:lnSpc>
              <a:spcBef>
                <a:spcPts val="1515"/>
              </a:spcBef>
            </a:pPr>
            <a:r>
              <a:rPr sz="2000" b="1" dirty="0">
                <a:solidFill>
                  <a:srgbClr val="FF3F00"/>
                </a:solidFill>
                <a:latin typeface="Arial" panose="020B0604020202020204"/>
                <a:cs typeface="Arial" panose="020B0604020202020204"/>
              </a:rPr>
              <a:t>Galerie</a:t>
            </a:r>
            <a:r>
              <a:rPr sz="2000" b="1" spc="-40" dirty="0">
                <a:solidFill>
                  <a:srgbClr val="FF3F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solidFill>
                  <a:srgbClr val="FF3F00"/>
                </a:solidFill>
                <a:latin typeface="Arial" panose="020B0604020202020204"/>
                <a:cs typeface="Arial" panose="020B0604020202020204"/>
              </a:rPr>
              <a:t>des</a:t>
            </a:r>
            <a:r>
              <a:rPr sz="2000" b="1" spc="-35" dirty="0">
                <a:solidFill>
                  <a:srgbClr val="FF3F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solidFill>
                  <a:srgbClr val="FF3F00"/>
                </a:solidFill>
                <a:latin typeface="Arial" panose="020B0604020202020204"/>
                <a:cs typeface="Arial" panose="020B0604020202020204"/>
              </a:rPr>
              <a:t>plats/boissons</a:t>
            </a:r>
            <a:r>
              <a:rPr sz="2000" b="1" spc="-40" dirty="0">
                <a:solidFill>
                  <a:srgbClr val="FF3F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solidFill>
                  <a:srgbClr val="FF3F00"/>
                </a:solidFill>
                <a:latin typeface="Arial" panose="020B0604020202020204"/>
                <a:cs typeface="Arial" panose="020B0604020202020204"/>
              </a:rPr>
              <a:t>:</a:t>
            </a:r>
            <a:r>
              <a:rPr sz="2000" b="1" spc="15" dirty="0">
                <a:solidFill>
                  <a:srgbClr val="FF3F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 MT"/>
                <a:cs typeface="Arial MT"/>
              </a:rPr>
              <a:t>éléments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ts val="2315"/>
              </a:lnSpc>
            </a:pP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&lt;figure&gt;</a:t>
            </a:r>
            <a:r>
              <a:rPr sz="20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avec</a:t>
            </a:r>
            <a:r>
              <a:rPr sz="20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image</a:t>
            </a:r>
            <a:r>
              <a:rPr sz="20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+</a:t>
            </a:r>
            <a:r>
              <a:rPr sz="20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titre</a:t>
            </a:r>
            <a:r>
              <a:rPr sz="20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+</a:t>
            </a:r>
            <a:r>
              <a:rPr sz="20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 MT"/>
                <a:cs typeface="Arial MT"/>
              </a:rPr>
              <a:t>description.</a:t>
            </a:r>
            <a:endParaRPr sz="2000">
              <a:latin typeface="Arial MT"/>
              <a:cs typeface="Arial MT"/>
            </a:endParaRPr>
          </a:p>
          <a:p>
            <a:pPr marL="12700" marR="5080" indent="70485">
              <a:lnSpc>
                <a:spcPts val="2230"/>
              </a:lnSpc>
              <a:spcBef>
                <a:spcPts val="1775"/>
              </a:spcBef>
            </a:pPr>
            <a:r>
              <a:rPr sz="2000" b="1" dirty="0">
                <a:solidFill>
                  <a:srgbClr val="FF3F00"/>
                </a:solidFill>
                <a:latin typeface="Arial" panose="020B0604020202020204"/>
                <a:cs typeface="Arial" panose="020B0604020202020204"/>
              </a:rPr>
              <a:t>Liens</a:t>
            </a:r>
            <a:r>
              <a:rPr sz="2000" b="1" spc="-25" dirty="0">
                <a:solidFill>
                  <a:srgbClr val="FF3F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solidFill>
                  <a:srgbClr val="FF3F00"/>
                </a:solidFill>
                <a:latin typeface="Arial" panose="020B0604020202020204"/>
                <a:cs typeface="Arial" panose="020B0604020202020204"/>
              </a:rPr>
              <a:t>rapides </a:t>
            </a:r>
            <a:r>
              <a:rPr sz="2000" dirty="0">
                <a:solidFill>
                  <a:srgbClr val="FF3F00"/>
                </a:solidFill>
                <a:latin typeface="Arial MT"/>
                <a:cs typeface="Arial MT"/>
              </a:rPr>
              <a:t>:</a:t>
            </a:r>
            <a:r>
              <a:rPr sz="2000" spc="-20" dirty="0">
                <a:solidFill>
                  <a:srgbClr val="FF3F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bouton</a:t>
            </a:r>
            <a:r>
              <a:rPr sz="20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«</a:t>
            </a:r>
            <a:r>
              <a:rPr sz="20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Commandez</a:t>
            </a:r>
            <a:r>
              <a:rPr sz="20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Arial MT"/>
                <a:cs typeface="Arial MT"/>
              </a:rPr>
              <a:t>»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mène</a:t>
            </a:r>
            <a:r>
              <a:rPr sz="20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à</a:t>
            </a:r>
            <a:r>
              <a:rPr sz="20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order.html,</a:t>
            </a:r>
            <a:r>
              <a:rPr sz="20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bouton</a:t>
            </a:r>
            <a:r>
              <a:rPr sz="20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«</a:t>
            </a:r>
            <a:r>
              <a:rPr sz="20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 MT"/>
                <a:cs typeface="Arial MT"/>
              </a:rPr>
              <a:t>Contactez-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nous </a:t>
            </a:r>
            <a:r>
              <a:rPr sz="2000" spc="-25" dirty="0">
                <a:solidFill>
                  <a:srgbClr val="FFFFFF"/>
                </a:solidFill>
                <a:latin typeface="Arial MT"/>
                <a:cs typeface="Arial MT"/>
              </a:rPr>
              <a:t>».</a:t>
            </a:r>
            <a:endParaRPr sz="2000">
              <a:latin typeface="Arial MT"/>
              <a:cs typeface="Arial MT"/>
            </a:endParaRPr>
          </a:p>
          <a:p>
            <a:pPr marL="12700" marR="250190" indent="70485">
              <a:lnSpc>
                <a:spcPts val="2230"/>
              </a:lnSpc>
              <a:spcBef>
                <a:spcPts val="1735"/>
              </a:spcBef>
            </a:pPr>
            <a:r>
              <a:rPr sz="2000" b="1" dirty="0">
                <a:solidFill>
                  <a:srgbClr val="FF3F00"/>
                </a:solidFill>
                <a:latin typeface="Arial" panose="020B0604020202020204"/>
                <a:cs typeface="Arial" panose="020B0604020202020204"/>
              </a:rPr>
              <a:t>Images</a:t>
            </a:r>
            <a:r>
              <a:rPr sz="2000" b="1" spc="-45" dirty="0">
                <a:solidFill>
                  <a:srgbClr val="FF3F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solidFill>
                  <a:srgbClr val="FF3F00"/>
                </a:solidFill>
                <a:latin typeface="Arial" panose="020B0604020202020204"/>
                <a:cs typeface="Arial" panose="020B0604020202020204"/>
              </a:rPr>
              <a:t>disponibles</a:t>
            </a:r>
            <a:r>
              <a:rPr sz="2000" b="1" spc="-40" dirty="0">
                <a:solidFill>
                  <a:srgbClr val="FF3F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solidFill>
                  <a:srgbClr val="FF3F00"/>
                </a:solidFill>
                <a:latin typeface="Arial" panose="020B0604020202020204"/>
                <a:cs typeface="Arial" panose="020B0604020202020204"/>
              </a:rPr>
              <a:t>:</a:t>
            </a:r>
            <a:r>
              <a:rPr sz="2000" b="1" spc="-10" dirty="0">
                <a:solidFill>
                  <a:srgbClr val="FF3F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 MT"/>
                <a:cs typeface="Arial MT"/>
              </a:rPr>
              <a:t>bestcoffee.png,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coffeeimg.png,</a:t>
            </a:r>
            <a:r>
              <a:rPr sz="2000" spc="-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image1.png</a:t>
            </a:r>
            <a:r>
              <a:rPr sz="200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Arial MT"/>
                <a:cs typeface="Arial MT"/>
              </a:rPr>
              <a:t>… </a:t>
            </a:r>
            <a:r>
              <a:rPr sz="2000" spc="-10" dirty="0">
                <a:solidFill>
                  <a:srgbClr val="FFFFFF"/>
                </a:solidFill>
                <a:latin typeface="Arial MT"/>
                <a:cs typeface="Arial MT"/>
              </a:rPr>
              <a:t>image6.png.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59765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Arial" panose="020B0604020202020204"/>
                <a:cs typeface="Arial" panose="020B0604020202020204"/>
              </a:rPr>
              <a:t>Page</a:t>
            </a:r>
            <a:r>
              <a:rPr b="1" spc="-175" dirty="0">
                <a:latin typeface="Arial" panose="020B0604020202020204"/>
                <a:cs typeface="Arial" panose="020B0604020202020204"/>
              </a:rPr>
              <a:t> </a:t>
            </a:r>
            <a:r>
              <a:rPr b="1" spc="-20" dirty="0">
                <a:latin typeface="Arial" panose="020B0604020202020204"/>
                <a:cs typeface="Arial" panose="020B0604020202020204"/>
              </a:rPr>
              <a:t>order.html</a:t>
            </a:r>
            <a:r>
              <a:rPr b="1" spc="-170" dirty="0">
                <a:latin typeface="Arial" panose="020B0604020202020204"/>
                <a:cs typeface="Arial" panose="020B0604020202020204"/>
              </a:rPr>
              <a:t> </a:t>
            </a:r>
            <a:r>
              <a:rPr b="1" spc="-10" dirty="0">
                <a:latin typeface="Arial" panose="020B0604020202020204"/>
                <a:cs typeface="Arial" panose="020B0604020202020204"/>
              </a:rPr>
              <a:t>(commande)</a:t>
            </a:r>
            <a:endParaRPr b="1" spc="-1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1299" y="1788384"/>
            <a:ext cx="116839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latin typeface="Lucida Sans Unicode" panose="020B0602030504020204"/>
                <a:cs typeface="Lucida Sans Unicode" panose="020B0602030504020204"/>
              </a:rPr>
              <a:t>●</a:t>
            </a:r>
            <a:endParaRPr sz="90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07301" y="1710622"/>
            <a:ext cx="8731885" cy="220091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 marR="5080">
              <a:lnSpc>
                <a:spcPts val="2230"/>
              </a:lnSpc>
              <a:spcBef>
                <a:spcPts val="315"/>
              </a:spcBef>
            </a:pPr>
            <a:r>
              <a:rPr sz="2000" b="1" dirty="0">
                <a:latin typeface="Arial" panose="020B0604020202020204"/>
                <a:cs typeface="Arial" panose="020B0604020202020204"/>
              </a:rPr>
              <a:t>Affichage</a:t>
            </a:r>
            <a:r>
              <a:rPr sz="2000" b="1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dynamique</a:t>
            </a:r>
            <a:r>
              <a:rPr sz="2000" b="1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des</a:t>
            </a:r>
            <a:r>
              <a:rPr sz="2000" b="1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produits</a:t>
            </a:r>
            <a:r>
              <a:rPr sz="2000" b="1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: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latin typeface="Arial MT"/>
                <a:cs typeface="Arial MT"/>
              </a:rPr>
              <a:t>order.js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extrait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les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produits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(parsing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du </a:t>
            </a:r>
            <a:r>
              <a:rPr sz="2000" dirty="0">
                <a:latin typeface="Arial MT"/>
                <a:cs typeface="Arial MT"/>
              </a:rPr>
              <a:t>HTML)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et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les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affiche.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2000" b="1" dirty="0">
                <a:latin typeface="Arial" panose="020B0604020202020204"/>
                <a:cs typeface="Arial" panose="020B0604020202020204"/>
              </a:rPr>
              <a:t>Fonctionnalités</a:t>
            </a:r>
            <a:r>
              <a:rPr sz="2000" b="1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:</a:t>
            </a:r>
            <a:r>
              <a:rPr sz="2000" b="1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latin typeface="Arial MT"/>
                <a:cs typeface="Arial MT"/>
              </a:rPr>
              <a:t>ajouter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au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panier,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modifier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quantité,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supprimer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article.</a:t>
            </a:r>
            <a:endParaRPr sz="2000">
              <a:latin typeface="Arial MT"/>
              <a:cs typeface="Arial MT"/>
            </a:endParaRPr>
          </a:p>
          <a:p>
            <a:pPr marL="12700" marR="2255520">
              <a:lnSpc>
                <a:spcPts val="2230"/>
              </a:lnSpc>
              <a:spcBef>
                <a:spcPts val="1240"/>
              </a:spcBef>
            </a:pPr>
            <a:r>
              <a:rPr sz="2000" dirty="0">
                <a:latin typeface="Arial MT"/>
                <a:cs typeface="Arial MT"/>
              </a:rPr>
              <a:t>Affichage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du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b="1" spc="-20" dirty="0">
                <a:latin typeface="Arial" panose="020B0604020202020204"/>
                <a:cs typeface="Arial" panose="020B0604020202020204"/>
              </a:rPr>
              <a:t>sous-</a:t>
            </a:r>
            <a:r>
              <a:rPr sz="2000" b="1" dirty="0">
                <a:latin typeface="Arial" panose="020B0604020202020204"/>
                <a:cs typeface="Arial" panose="020B0604020202020204"/>
              </a:rPr>
              <a:t>total</a:t>
            </a:r>
            <a:r>
              <a:rPr sz="2000" b="1" spc="-5" dirty="0"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latin typeface="Arial MT"/>
                <a:cs typeface="Arial MT"/>
              </a:rPr>
              <a:t>et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total</a:t>
            </a:r>
            <a:r>
              <a:rPr sz="2000" dirty="0">
                <a:latin typeface="Arial MT"/>
                <a:cs typeface="Arial MT"/>
              </a:rPr>
              <a:t>,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gestion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du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formulaire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de </a:t>
            </a:r>
            <a:r>
              <a:rPr sz="2000" spc="-10" dirty="0">
                <a:latin typeface="Arial MT"/>
                <a:cs typeface="Arial MT"/>
              </a:rPr>
              <a:t>paiement/commande.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2000" b="1" dirty="0">
                <a:latin typeface="Arial" panose="020B0604020202020204"/>
                <a:cs typeface="Arial" panose="020B0604020202020204"/>
              </a:rPr>
              <a:t>Notifications</a:t>
            </a:r>
            <a:r>
              <a:rPr sz="2000" b="1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:</a:t>
            </a:r>
            <a:r>
              <a:rPr sz="2000" b="1" spc="-5" dirty="0"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latin typeface="Arial MT"/>
                <a:cs typeface="Arial MT"/>
              </a:rPr>
              <a:t>toasts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confirmation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(élément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#toast).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1299" y="2506226"/>
            <a:ext cx="116839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latin typeface="Lucida Sans Unicode" panose="020B0602030504020204"/>
                <a:cs typeface="Lucida Sans Unicode" panose="020B0602030504020204"/>
              </a:rPr>
              <a:t>●</a:t>
            </a:r>
            <a:endParaRPr sz="90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1299" y="2940757"/>
            <a:ext cx="116839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latin typeface="Lucida Sans Unicode" panose="020B0602030504020204"/>
                <a:cs typeface="Lucida Sans Unicode" panose="020B0602030504020204"/>
              </a:rPr>
              <a:t>●</a:t>
            </a:r>
            <a:endParaRPr sz="90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1299" y="3658586"/>
            <a:ext cx="116839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latin typeface="Lucida Sans Unicode" panose="020B0602030504020204"/>
                <a:cs typeface="Lucida Sans Unicode" panose="020B0602030504020204"/>
              </a:rPr>
              <a:t>●</a:t>
            </a:r>
            <a:endParaRPr sz="900">
              <a:latin typeface="Lucida Sans Unicode" panose="020B0602030504020204"/>
              <a:cs typeface="Lucida Sans Unicode" panose="020B060203050402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0312" rIns="0" bIns="0" rtlCol="0">
            <a:spAutoFit/>
          </a:bodyPr>
          <a:lstStyle/>
          <a:p>
            <a:pPr marL="3302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latin typeface="Arial" panose="020B0604020202020204"/>
                <a:cs typeface="Arial" panose="020B0604020202020204"/>
              </a:rPr>
              <a:t>Page</a:t>
            </a:r>
            <a:r>
              <a:rPr sz="2800" b="1" spc="-100" dirty="0">
                <a:latin typeface="Arial" panose="020B0604020202020204"/>
                <a:cs typeface="Arial" panose="020B0604020202020204"/>
              </a:rPr>
              <a:t> </a:t>
            </a:r>
            <a:r>
              <a:rPr sz="2800" b="1" dirty="0">
                <a:latin typeface="Arial" panose="020B0604020202020204"/>
                <a:cs typeface="Arial" panose="020B0604020202020204"/>
              </a:rPr>
              <a:t>data.html</a:t>
            </a:r>
            <a:r>
              <a:rPr sz="2800" b="1" spc="-95" dirty="0">
                <a:latin typeface="Arial" panose="020B0604020202020204"/>
                <a:cs typeface="Arial" panose="020B0604020202020204"/>
              </a:rPr>
              <a:t> </a:t>
            </a:r>
            <a:r>
              <a:rPr sz="2800" b="1" dirty="0">
                <a:latin typeface="Arial" panose="020B0604020202020204"/>
                <a:cs typeface="Arial" panose="020B0604020202020204"/>
              </a:rPr>
              <a:t>(gestion</a:t>
            </a:r>
            <a:r>
              <a:rPr sz="2800" b="1" spc="-100" dirty="0">
                <a:latin typeface="Arial" panose="020B0604020202020204"/>
                <a:cs typeface="Arial" panose="020B0604020202020204"/>
              </a:rPr>
              <a:t> </a:t>
            </a:r>
            <a:r>
              <a:rPr sz="2800" b="1" dirty="0">
                <a:latin typeface="Arial" panose="020B0604020202020204"/>
                <a:cs typeface="Arial" panose="020B0604020202020204"/>
              </a:rPr>
              <a:t>des</a:t>
            </a:r>
            <a:r>
              <a:rPr sz="2800" b="1" spc="-100" dirty="0">
                <a:latin typeface="Arial" panose="020B0604020202020204"/>
                <a:cs typeface="Arial" panose="020B0604020202020204"/>
              </a:rPr>
              <a:t> </a:t>
            </a:r>
            <a:r>
              <a:rPr sz="2800" b="1" dirty="0">
                <a:latin typeface="Arial" panose="020B0604020202020204"/>
                <a:cs typeface="Arial" panose="020B0604020202020204"/>
              </a:rPr>
              <a:t>messages</a:t>
            </a:r>
            <a:r>
              <a:rPr sz="2800" b="1" spc="-95" dirty="0">
                <a:latin typeface="Arial" panose="020B0604020202020204"/>
                <a:cs typeface="Arial" panose="020B0604020202020204"/>
              </a:rPr>
              <a:t> </a:t>
            </a:r>
            <a:r>
              <a:rPr sz="2800" b="1" dirty="0">
                <a:latin typeface="Arial" panose="020B0604020202020204"/>
                <a:cs typeface="Arial" panose="020B0604020202020204"/>
              </a:rPr>
              <a:t>/</a:t>
            </a:r>
            <a:r>
              <a:rPr sz="2800" b="1" spc="-95" dirty="0">
                <a:latin typeface="Arial" panose="020B0604020202020204"/>
                <a:cs typeface="Arial" panose="020B0604020202020204"/>
              </a:rPr>
              <a:t> </a:t>
            </a:r>
            <a:r>
              <a:rPr sz="2800" b="1" spc="-10" dirty="0">
                <a:latin typeface="Arial" panose="020B0604020202020204"/>
                <a:cs typeface="Arial" panose="020B0604020202020204"/>
              </a:rPr>
              <a:t>commandes)</a:t>
            </a:r>
            <a:endParaRPr sz="2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99300" y="1717836"/>
            <a:ext cx="116839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latin typeface="Lucida Sans Unicode" panose="020B0602030504020204"/>
                <a:cs typeface="Lucida Sans Unicode" panose="020B0602030504020204"/>
              </a:rPr>
              <a:t>●</a:t>
            </a:r>
            <a:endParaRPr sz="90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3302" y="1640061"/>
            <a:ext cx="599821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Arial" panose="020B0604020202020204"/>
                <a:cs typeface="Arial" panose="020B0604020202020204"/>
              </a:rPr>
              <a:t>Objectif</a:t>
            </a:r>
            <a:r>
              <a:rPr sz="2000" b="1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: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latin typeface="Arial MT"/>
                <a:cs typeface="Arial MT"/>
              </a:rPr>
              <a:t>interface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«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admin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»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simple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pour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consulter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50" dirty="0">
                <a:latin typeface="Arial MT"/>
                <a:cs typeface="Arial MT"/>
              </a:rPr>
              <a:t>: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9294" y="2152353"/>
            <a:ext cx="116839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latin typeface="Lucida Sans Unicode" panose="020B0602030504020204"/>
                <a:cs typeface="Lucida Sans Unicode" panose="020B0602030504020204"/>
              </a:rPr>
              <a:t>●</a:t>
            </a:r>
            <a:endParaRPr sz="90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83296" y="1945046"/>
            <a:ext cx="5318125" cy="8947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43000"/>
              </a:lnSpc>
              <a:spcBef>
                <a:spcPts val="95"/>
              </a:spcBef>
            </a:pPr>
            <a:r>
              <a:rPr sz="2000" dirty="0">
                <a:latin typeface="Arial MT"/>
                <a:cs typeface="Arial MT"/>
              </a:rPr>
              <a:t>messages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envoyés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via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le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formulaire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</a:t>
            </a:r>
            <a:r>
              <a:rPr sz="2000" spc="-10" dirty="0">
                <a:latin typeface="Arial MT"/>
                <a:cs typeface="Arial MT"/>
              </a:rPr>
              <a:t> contact </a:t>
            </a:r>
            <a:r>
              <a:rPr sz="2000" dirty="0">
                <a:latin typeface="Arial MT"/>
                <a:cs typeface="Arial MT"/>
              </a:rPr>
              <a:t>commandes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sauvegardées en </a:t>
            </a:r>
            <a:r>
              <a:rPr sz="2000" spc="-10" dirty="0">
                <a:latin typeface="Arial MT"/>
                <a:cs typeface="Arial MT"/>
              </a:rPr>
              <a:t>local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59294" y="2586871"/>
            <a:ext cx="116839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latin typeface="Lucida Sans Unicode" panose="020B0602030504020204"/>
                <a:cs typeface="Lucida Sans Unicode" panose="020B0602030504020204"/>
              </a:rPr>
              <a:t>●</a:t>
            </a:r>
            <a:endParaRPr sz="90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9300" y="3021389"/>
            <a:ext cx="116839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latin typeface="Lucida Sans Unicode" panose="020B0602030504020204"/>
                <a:cs typeface="Lucida Sans Unicode" panose="020B0602030504020204"/>
              </a:rPr>
              <a:t>●</a:t>
            </a:r>
            <a:endParaRPr sz="90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23302" y="2943627"/>
            <a:ext cx="8471535" cy="61404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 marR="5080">
              <a:lnSpc>
                <a:spcPts val="2230"/>
              </a:lnSpc>
              <a:spcBef>
                <a:spcPts val="315"/>
              </a:spcBef>
            </a:pPr>
            <a:r>
              <a:rPr sz="2000" b="1" dirty="0">
                <a:latin typeface="Arial" panose="020B0604020202020204"/>
                <a:cs typeface="Arial" panose="020B0604020202020204"/>
              </a:rPr>
              <a:t>Fonctionnalités</a:t>
            </a:r>
            <a:r>
              <a:rPr sz="2000" b="1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: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 </a:t>
            </a:r>
            <a:r>
              <a:rPr sz="2000" spc="-10" dirty="0">
                <a:latin typeface="Arial MT"/>
                <a:cs typeface="Arial MT"/>
              </a:rPr>
              <a:t>afficher,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supprimer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un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message/commande,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vider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toutes </a:t>
            </a:r>
            <a:r>
              <a:rPr sz="2000" dirty="0">
                <a:latin typeface="Arial MT"/>
                <a:cs typeface="Arial MT"/>
              </a:rPr>
              <a:t>les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données.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9300" y="3739231"/>
            <a:ext cx="116839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latin typeface="Lucida Sans Unicode" panose="020B0602030504020204"/>
                <a:cs typeface="Lucida Sans Unicode" panose="020B0602030504020204"/>
              </a:rPr>
              <a:t>●</a:t>
            </a:r>
            <a:endParaRPr sz="90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047758" y="3698287"/>
            <a:ext cx="751205" cy="283845"/>
          </a:xfrm>
          <a:prstGeom prst="rect">
            <a:avLst/>
          </a:prstGeom>
          <a:solidFill>
            <a:srgbClr val="FFBE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210"/>
              </a:lnSpc>
            </a:pPr>
            <a:r>
              <a:rPr sz="2000" spc="-10" dirty="0">
                <a:latin typeface="Arial MT"/>
                <a:cs typeface="Arial MT"/>
              </a:rPr>
              <a:t>data.js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23302" y="3661469"/>
            <a:ext cx="314261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945765" algn="l"/>
              </a:tabLst>
            </a:pPr>
            <a:r>
              <a:rPr sz="2000" b="1" dirty="0">
                <a:latin typeface="Arial" panose="020B0604020202020204"/>
                <a:cs typeface="Arial" panose="020B0604020202020204"/>
              </a:rPr>
              <a:t>Implémentation</a:t>
            </a:r>
            <a:r>
              <a:rPr sz="2000" b="1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-50" dirty="0">
                <a:latin typeface="Arial" panose="020B0604020202020204"/>
                <a:cs typeface="Arial" panose="020B0604020202020204"/>
              </a:rPr>
              <a:t>:</a:t>
            </a:r>
            <a:r>
              <a:rPr sz="2000" b="1" dirty="0">
                <a:latin typeface="Arial" panose="020B0604020202020204"/>
                <a:cs typeface="Arial" panose="020B0604020202020204"/>
              </a:rPr>
              <a:t>	</a:t>
            </a:r>
            <a:r>
              <a:rPr sz="2000" spc="-25" dirty="0">
                <a:latin typeface="Arial MT"/>
                <a:cs typeface="Arial MT"/>
              </a:rPr>
              <a:t>lit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24883" y="3698287"/>
            <a:ext cx="1417320" cy="283845"/>
          </a:xfrm>
          <a:prstGeom prst="rect">
            <a:avLst/>
          </a:prstGeom>
          <a:solidFill>
            <a:srgbClr val="FFBE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210"/>
              </a:lnSpc>
            </a:pPr>
            <a:r>
              <a:rPr sz="2000" spc="-10" dirty="0">
                <a:latin typeface="Arial MT"/>
                <a:cs typeface="Arial MT"/>
              </a:rPr>
              <a:t>localStorage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600618" y="3661469"/>
            <a:ext cx="332232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Arial MT"/>
                <a:cs typeface="Arial MT"/>
              </a:rPr>
              <a:t>(contactMessages,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orders) </a:t>
            </a:r>
            <a:r>
              <a:rPr sz="2000" spc="-25" dirty="0">
                <a:latin typeface="Arial MT"/>
                <a:cs typeface="Arial MT"/>
              </a:rPr>
              <a:t>et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23302" y="3944781"/>
            <a:ext cx="361061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Arial MT"/>
                <a:cs typeface="Arial MT"/>
              </a:rPr>
              <a:t>génère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HTML</a:t>
            </a:r>
            <a:r>
              <a:rPr sz="2000" spc="-8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correspondant.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34035">
              <a:lnSpc>
                <a:spcPct val="100000"/>
              </a:lnSpc>
              <a:spcBef>
                <a:spcPts val="100"/>
              </a:spcBef>
            </a:pPr>
            <a:r>
              <a:rPr dirty="0"/>
              <a:t>Gestion</a:t>
            </a:r>
            <a:r>
              <a:rPr spc="-105" dirty="0"/>
              <a:t> </a:t>
            </a:r>
            <a:r>
              <a:rPr dirty="0"/>
              <a:t>du</a:t>
            </a:r>
            <a:r>
              <a:rPr spc="-100" dirty="0"/>
              <a:t> </a:t>
            </a:r>
            <a:r>
              <a:rPr dirty="0"/>
              <a:t>panier</a:t>
            </a:r>
            <a:r>
              <a:rPr spc="-105" dirty="0"/>
              <a:t> </a:t>
            </a:r>
            <a:r>
              <a:rPr dirty="0"/>
              <a:t>&amp;</a:t>
            </a:r>
            <a:r>
              <a:rPr spc="-105" dirty="0"/>
              <a:t> </a:t>
            </a:r>
            <a:r>
              <a:rPr spc="-10" dirty="0"/>
              <a:t>persistance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599300" y="1567709"/>
            <a:ext cx="95250" cy="1308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650" spc="-50" dirty="0">
                <a:latin typeface="Lucida Sans Unicode" panose="020B0602030504020204"/>
                <a:cs typeface="Lucida Sans Unicode" panose="020B0602030504020204"/>
              </a:rPr>
              <a:t>●</a:t>
            </a:r>
            <a:endParaRPr sz="65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3302" y="1524148"/>
            <a:ext cx="998219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latin typeface="Arial" panose="020B0604020202020204"/>
                <a:cs typeface="Arial" panose="020B0604020202020204"/>
              </a:rPr>
              <a:t>Principes</a:t>
            </a:r>
            <a:r>
              <a:rPr sz="1500" b="1" spc="-80" dirty="0">
                <a:latin typeface="Arial" panose="020B0604020202020204"/>
                <a:cs typeface="Arial" panose="020B0604020202020204"/>
              </a:rPr>
              <a:t> </a:t>
            </a:r>
            <a:r>
              <a:rPr sz="1500" b="1" spc="-50" dirty="0">
                <a:latin typeface="Arial" panose="020B0604020202020204"/>
                <a:cs typeface="Arial" panose="020B0604020202020204"/>
              </a:rPr>
              <a:t>: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9294" y="1894226"/>
            <a:ext cx="95250" cy="1308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650" spc="-50" dirty="0">
                <a:latin typeface="Lucida Sans Unicode" panose="020B0602030504020204"/>
                <a:cs typeface="Lucida Sans Unicode" panose="020B0602030504020204"/>
              </a:rPr>
              <a:t>●</a:t>
            </a:r>
            <a:endParaRPr sz="65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180198" y="1881005"/>
            <a:ext cx="1071245" cy="213995"/>
          </a:xfrm>
          <a:prstGeom prst="rect">
            <a:avLst/>
          </a:prstGeom>
          <a:solidFill>
            <a:srgbClr val="FFBE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60"/>
              </a:lnSpc>
            </a:pPr>
            <a:r>
              <a:rPr sz="1500" spc="-10" dirty="0">
                <a:latin typeface="Arial MT"/>
                <a:cs typeface="Arial MT"/>
              </a:rPr>
              <a:t>localStorage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043923" y="1881005"/>
            <a:ext cx="318135" cy="213995"/>
          </a:xfrm>
          <a:custGeom>
            <a:avLst/>
            <a:gdLst/>
            <a:ahLst/>
            <a:cxnLst/>
            <a:rect l="l" t="t" r="r" b="b"/>
            <a:pathLst>
              <a:path w="318134" h="213994">
                <a:moveTo>
                  <a:pt x="317525" y="0"/>
                </a:moveTo>
                <a:lnTo>
                  <a:pt x="0" y="0"/>
                </a:lnTo>
                <a:lnTo>
                  <a:pt x="0" y="213842"/>
                </a:lnTo>
                <a:lnTo>
                  <a:pt x="317525" y="213842"/>
                </a:lnTo>
                <a:lnTo>
                  <a:pt x="317525" y="0"/>
                </a:lnTo>
                <a:close/>
              </a:path>
            </a:pathLst>
          </a:custGeom>
          <a:solidFill>
            <a:srgbClr val="FFBE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283296" y="1850678"/>
            <a:ext cx="814387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008495" algn="l"/>
              </a:tabLst>
            </a:pPr>
            <a:r>
              <a:rPr sz="1500" dirty="0">
                <a:latin typeface="Arial MT"/>
                <a:cs typeface="Arial MT"/>
              </a:rPr>
              <a:t>Le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panier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est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un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tableau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d’objets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{id,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title,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price,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qty,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img}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stocké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spc="-20" dirty="0">
                <a:latin typeface="Arial MT"/>
                <a:cs typeface="Arial MT"/>
              </a:rPr>
              <a:t>dans</a:t>
            </a:r>
            <a:r>
              <a:rPr sz="1500" dirty="0">
                <a:latin typeface="Arial MT"/>
                <a:cs typeface="Arial MT"/>
              </a:rPr>
              <a:t>	sous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clé</a:t>
            </a:r>
            <a:r>
              <a:rPr sz="1500" spc="-2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cart.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59294" y="2220756"/>
            <a:ext cx="95250" cy="1308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650" spc="-50" dirty="0">
                <a:latin typeface="Lucida Sans Unicode" panose="020B0602030504020204"/>
                <a:cs typeface="Lucida Sans Unicode" panose="020B0602030504020204"/>
              </a:rPr>
              <a:t>●</a:t>
            </a:r>
            <a:endParaRPr sz="65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83296" y="2177195"/>
            <a:ext cx="694817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Arial MT"/>
                <a:cs typeface="Arial MT"/>
              </a:rPr>
              <a:t>Fonctions</a:t>
            </a:r>
            <a:r>
              <a:rPr sz="1500" spc="-20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principales</a:t>
            </a:r>
            <a:r>
              <a:rPr sz="1500" spc="-2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:</a:t>
            </a:r>
            <a:r>
              <a:rPr sz="1500" spc="-20" dirty="0">
                <a:latin typeface="Arial MT"/>
                <a:cs typeface="Arial MT"/>
              </a:rPr>
              <a:t> </a:t>
            </a:r>
            <a:r>
              <a:rPr sz="1500" spc="-25" dirty="0">
                <a:latin typeface="Arial MT"/>
                <a:cs typeface="Arial MT"/>
              </a:rPr>
              <a:t>addToCart(),</a:t>
            </a:r>
            <a:r>
              <a:rPr sz="1500" spc="-20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removeFromCart(),</a:t>
            </a:r>
            <a:r>
              <a:rPr sz="1500" spc="-20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updateQty(),</a:t>
            </a:r>
            <a:r>
              <a:rPr sz="1500" spc="-20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renderCart().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9300" y="2547273"/>
            <a:ext cx="95250" cy="1308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650" spc="-50" dirty="0">
                <a:latin typeface="Lucida Sans Unicode" panose="020B0602030504020204"/>
                <a:cs typeface="Lucida Sans Unicode" panose="020B0602030504020204"/>
              </a:rPr>
              <a:t>●</a:t>
            </a:r>
            <a:endParaRPr sz="65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23302" y="2405718"/>
            <a:ext cx="7866380" cy="669925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70"/>
              </a:spcBef>
            </a:pPr>
            <a:r>
              <a:rPr sz="1500" b="1" dirty="0">
                <a:latin typeface="Arial" panose="020B0604020202020204"/>
                <a:cs typeface="Arial" panose="020B0604020202020204"/>
              </a:rPr>
              <a:t>Calculs</a:t>
            </a:r>
            <a:r>
              <a:rPr sz="1500" b="1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500" dirty="0">
                <a:latin typeface="Arial MT"/>
                <a:cs typeface="Arial MT"/>
              </a:rPr>
              <a:t>: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sous-</a:t>
            </a:r>
            <a:r>
              <a:rPr sz="1500" dirty="0">
                <a:latin typeface="Arial MT"/>
                <a:cs typeface="Arial MT"/>
              </a:rPr>
              <a:t>total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=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somme(prix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*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quantité),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total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=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spc="-20" dirty="0">
                <a:latin typeface="Arial MT"/>
                <a:cs typeface="Arial MT"/>
              </a:rPr>
              <a:t>sous-</a:t>
            </a:r>
            <a:r>
              <a:rPr sz="1500" dirty="0">
                <a:latin typeface="Arial MT"/>
                <a:cs typeface="Arial MT"/>
              </a:rPr>
              <a:t>total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(+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éventuelles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taxes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ou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frais).</a:t>
            </a:r>
            <a:endParaRPr sz="15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1500" b="1" dirty="0">
                <a:latin typeface="Arial" panose="020B0604020202020204"/>
                <a:cs typeface="Arial" panose="020B0604020202020204"/>
              </a:rPr>
              <a:t>Exemple</a:t>
            </a:r>
            <a:r>
              <a:rPr sz="1500" b="1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1500" b="1" dirty="0">
                <a:latin typeface="Arial" panose="020B0604020202020204"/>
                <a:cs typeface="Arial" panose="020B0604020202020204"/>
              </a:rPr>
              <a:t>de</a:t>
            </a:r>
            <a:r>
              <a:rPr sz="1500" b="1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1500" b="1" dirty="0">
                <a:latin typeface="Arial" panose="020B0604020202020204"/>
                <a:cs typeface="Arial" panose="020B0604020202020204"/>
              </a:rPr>
              <a:t>code</a:t>
            </a:r>
            <a:r>
              <a:rPr sz="1500" b="1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1500" b="1" spc="-60" dirty="0">
                <a:latin typeface="Arial" panose="020B0604020202020204"/>
                <a:cs typeface="Arial" panose="020B0604020202020204"/>
              </a:rPr>
              <a:t>: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99300" y="2873790"/>
            <a:ext cx="95250" cy="1308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650" spc="-50" dirty="0">
                <a:latin typeface="Lucida Sans Unicode" panose="020B0602030504020204"/>
                <a:cs typeface="Lucida Sans Unicode" panose="020B0602030504020204"/>
              </a:rPr>
              <a:t>●</a:t>
            </a:r>
            <a:endParaRPr sz="650">
              <a:latin typeface="Lucida Sans Unicode" panose="020B0602030504020204"/>
              <a:cs typeface="Lucida Sans Unicode" panose="020B0602030504020204"/>
            </a:endParaRPr>
          </a:p>
        </p:txBody>
      </p:sp>
      <p:pic>
        <p:nvPicPr>
          <p:cNvPr id="14" name="object 1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828800" y="3324259"/>
            <a:ext cx="6175082" cy="193319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69645">
              <a:lnSpc>
                <a:spcPct val="100000"/>
              </a:lnSpc>
              <a:spcBef>
                <a:spcPts val="100"/>
              </a:spcBef>
            </a:pPr>
            <a:r>
              <a:rPr b="1" spc="-10" dirty="0">
                <a:latin typeface="Arial" panose="020B0604020202020204"/>
                <a:cs typeface="Arial" panose="020B0604020202020204"/>
              </a:rPr>
              <a:t>Accessibilité</a:t>
            </a:r>
            <a:r>
              <a:rPr b="1" spc="-105" dirty="0">
                <a:latin typeface="Arial" panose="020B0604020202020204"/>
                <a:cs typeface="Arial" panose="020B0604020202020204"/>
              </a:rPr>
              <a:t> </a:t>
            </a:r>
            <a:r>
              <a:rPr b="1" dirty="0">
                <a:latin typeface="Arial" panose="020B0604020202020204"/>
                <a:cs typeface="Arial" panose="020B0604020202020204"/>
              </a:rPr>
              <a:t>&amp;</a:t>
            </a:r>
            <a:r>
              <a:rPr b="1" spc="-105" dirty="0">
                <a:latin typeface="Arial" panose="020B0604020202020204"/>
                <a:cs typeface="Arial" panose="020B0604020202020204"/>
              </a:rPr>
              <a:t> </a:t>
            </a:r>
            <a:r>
              <a:rPr b="1" spc="-10" dirty="0">
                <a:latin typeface="Arial" panose="020B0604020202020204"/>
                <a:cs typeface="Arial" panose="020B0604020202020204"/>
              </a:rPr>
              <a:t>responsive</a:t>
            </a:r>
            <a:endParaRPr b="1" spc="-1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99300" y="2076750"/>
            <a:ext cx="116839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latin typeface="Lucida Sans Unicode" panose="020B0602030504020204"/>
                <a:cs typeface="Lucida Sans Unicode" panose="020B0602030504020204"/>
              </a:rPr>
              <a:t>●</a:t>
            </a:r>
            <a:endParaRPr sz="90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3302" y="1998988"/>
            <a:ext cx="795147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Arial" panose="020B0604020202020204"/>
                <a:cs typeface="Arial" panose="020B0604020202020204"/>
              </a:rPr>
              <a:t>Prise</a:t>
            </a:r>
            <a:r>
              <a:rPr sz="2000" b="1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en</a:t>
            </a:r>
            <a:r>
              <a:rPr sz="2000" b="1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charge</a:t>
            </a:r>
            <a:r>
              <a:rPr sz="2000" b="1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mobile</a:t>
            </a:r>
            <a:r>
              <a:rPr sz="2000" b="1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: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latin typeface="Arial MT"/>
                <a:cs typeface="Arial MT"/>
              </a:rPr>
              <a:t>menu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mobile,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overlay,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boutons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accessibles.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9300" y="2511268"/>
            <a:ext cx="116839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latin typeface="Lucida Sans Unicode" panose="020B0602030504020204"/>
                <a:cs typeface="Lucida Sans Unicode" panose="020B0602030504020204"/>
              </a:rPr>
              <a:t>●</a:t>
            </a:r>
            <a:endParaRPr sz="90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551563" y="2470324"/>
            <a:ext cx="1049655" cy="283845"/>
          </a:xfrm>
          <a:custGeom>
            <a:avLst/>
            <a:gdLst/>
            <a:ahLst/>
            <a:cxnLst/>
            <a:rect l="l" t="t" r="r" b="b"/>
            <a:pathLst>
              <a:path w="1049654" h="283844">
                <a:moveTo>
                  <a:pt x="1049045" y="0"/>
                </a:moveTo>
                <a:lnTo>
                  <a:pt x="0" y="0"/>
                </a:lnTo>
                <a:lnTo>
                  <a:pt x="0" y="283679"/>
                </a:lnTo>
                <a:lnTo>
                  <a:pt x="1049045" y="283679"/>
                </a:lnTo>
                <a:lnTo>
                  <a:pt x="1049045" y="0"/>
                </a:lnTo>
                <a:close/>
              </a:path>
            </a:pathLst>
          </a:custGeom>
          <a:solidFill>
            <a:srgbClr val="FFBE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742442" y="2470324"/>
            <a:ext cx="1629410" cy="283845"/>
          </a:xfrm>
          <a:custGeom>
            <a:avLst/>
            <a:gdLst/>
            <a:ahLst/>
            <a:cxnLst/>
            <a:rect l="l" t="t" r="r" b="b"/>
            <a:pathLst>
              <a:path w="1629409" h="283844">
                <a:moveTo>
                  <a:pt x="1629359" y="0"/>
                </a:moveTo>
                <a:lnTo>
                  <a:pt x="0" y="0"/>
                </a:lnTo>
                <a:lnTo>
                  <a:pt x="0" y="283679"/>
                </a:lnTo>
                <a:lnTo>
                  <a:pt x="1629359" y="283679"/>
                </a:lnTo>
                <a:lnTo>
                  <a:pt x="1629359" y="0"/>
                </a:lnTo>
                <a:close/>
              </a:path>
            </a:pathLst>
          </a:custGeom>
          <a:solidFill>
            <a:srgbClr val="FFBE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923302" y="2433506"/>
            <a:ext cx="842454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Arial" panose="020B0604020202020204"/>
                <a:cs typeface="Arial" panose="020B0604020202020204"/>
              </a:rPr>
              <a:t>Attributs</a:t>
            </a:r>
            <a:r>
              <a:rPr sz="2000" b="1" spc="-8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ARIA</a:t>
            </a:r>
            <a:r>
              <a:rPr sz="2000" b="1" spc="-7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&amp;</a:t>
            </a:r>
            <a:r>
              <a:rPr sz="2000" b="1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focus</a:t>
            </a:r>
            <a:r>
              <a:rPr sz="2000" b="1" spc="-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management</a:t>
            </a:r>
            <a:r>
              <a:rPr sz="2000" b="1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:</a:t>
            </a:r>
            <a:r>
              <a:rPr sz="2000" b="1" spc="50" dirty="0">
                <a:latin typeface="Arial" panose="020B0604020202020204"/>
                <a:cs typeface="Arial" panose="020B0604020202020204"/>
              </a:rPr>
              <a:t> </a:t>
            </a:r>
            <a:r>
              <a:rPr sz="2000" spc="-10" dirty="0">
                <a:latin typeface="Arial MT"/>
                <a:cs typeface="Arial MT"/>
              </a:rPr>
              <a:t>aria-</a:t>
            </a:r>
            <a:r>
              <a:rPr sz="2000" dirty="0">
                <a:latin typeface="Arial MT"/>
                <a:cs typeface="Arial MT"/>
              </a:rPr>
              <a:t>label,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aria-</a:t>
            </a:r>
            <a:r>
              <a:rPr sz="2000" dirty="0">
                <a:latin typeface="Arial MT"/>
                <a:cs typeface="Arial MT"/>
              </a:rPr>
              <a:t>expanded,</a:t>
            </a:r>
            <a:r>
              <a:rPr sz="2000" spc="-10" dirty="0">
                <a:latin typeface="Arial MT"/>
                <a:cs typeface="Arial MT"/>
              </a:rPr>
              <a:t> gestion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23302" y="2716818"/>
            <a:ext cx="53727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Arial MT"/>
                <a:cs typeface="Arial MT"/>
              </a:rPr>
              <a:t>du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focus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lors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l’ouverture/fermeture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du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menu.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9300" y="3229110"/>
            <a:ext cx="116839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latin typeface="Lucida Sans Unicode" panose="020B0602030504020204"/>
                <a:cs typeface="Lucida Sans Unicode" panose="020B0602030504020204"/>
              </a:rPr>
              <a:t>●</a:t>
            </a:r>
            <a:endParaRPr sz="90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23302" y="3151348"/>
            <a:ext cx="8220709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Arial" panose="020B0604020202020204"/>
                <a:cs typeface="Arial" panose="020B0604020202020204"/>
              </a:rPr>
              <a:t>Bonne</a:t>
            </a:r>
            <a:r>
              <a:rPr sz="2000" b="1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pratique</a:t>
            </a:r>
            <a:r>
              <a:rPr sz="2000" b="1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: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latin typeface="Arial MT"/>
                <a:cs typeface="Arial MT"/>
              </a:rPr>
              <a:t>images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avec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alt,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boutons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grande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taille,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texte</a:t>
            </a:r>
            <a:r>
              <a:rPr sz="2000" spc="-10" dirty="0">
                <a:latin typeface="Arial MT"/>
                <a:cs typeface="Arial MT"/>
              </a:rPr>
              <a:t> lisible.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99300" y="3663628"/>
            <a:ext cx="116839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latin typeface="Lucida Sans Unicode" panose="020B0602030504020204"/>
                <a:cs typeface="Lucida Sans Unicode" panose="020B0602030504020204"/>
              </a:rPr>
              <a:t>●</a:t>
            </a:r>
            <a:endParaRPr sz="900">
              <a:latin typeface="Lucida Sans Unicode" panose="020B0602030504020204"/>
              <a:cs typeface="Lucida Sans Unicode" panose="020B0602030504020204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494238" y="3622683"/>
            <a:ext cx="892175" cy="283845"/>
          </a:xfrm>
          <a:custGeom>
            <a:avLst/>
            <a:gdLst/>
            <a:ahLst/>
            <a:cxnLst/>
            <a:rect l="l" t="t" r="r" b="b"/>
            <a:pathLst>
              <a:path w="892175" h="283845">
                <a:moveTo>
                  <a:pt x="891717" y="0"/>
                </a:moveTo>
                <a:lnTo>
                  <a:pt x="0" y="0"/>
                </a:lnTo>
                <a:lnTo>
                  <a:pt x="0" y="283679"/>
                </a:lnTo>
                <a:lnTo>
                  <a:pt x="891717" y="283679"/>
                </a:lnTo>
                <a:lnTo>
                  <a:pt x="891717" y="0"/>
                </a:lnTo>
                <a:close/>
              </a:path>
            </a:pathLst>
          </a:custGeom>
          <a:solidFill>
            <a:srgbClr val="FFBE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923302" y="3585866"/>
            <a:ext cx="7646034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Arial" panose="020B0604020202020204"/>
                <a:cs typeface="Arial" panose="020B0604020202020204"/>
              </a:rPr>
              <a:t>CSS</a:t>
            </a:r>
            <a:r>
              <a:rPr sz="2000" b="1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responsive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latin typeface="Arial MT"/>
                <a:cs typeface="Arial MT"/>
              </a:rPr>
              <a:t>(breakpoints,</a:t>
            </a:r>
            <a:r>
              <a:rPr sz="2000" spc="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flex/grid)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pour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s’adapter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aux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écrans.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29945">
              <a:lnSpc>
                <a:spcPct val="100000"/>
              </a:lnSpc>
              <a:spcBef>
                <a:spcPts val="100"/>
              </a:spcBef>
            </a:pPr>
            <a:r>
              <a:rPr dirty="0"/>
              <a:t>Conclusion</a:t>
            </a:r>
            <a:r>
              <a:rPr spc="-155" dirty="0"/>
              <a:t> </a:t>
            </a:r>
            <a:r>
              <a:rPr dirty="0"/>
              <a:t>&amp;</a:t>
            </a:r>
            <a:r>
              <a:rPr spc="-150" dirty="0"/>
              <a:t> </a:t>
            </a:r>
            <a:r>
              <a:rPr spc="-10" dirty="0"/>
              <a:t>Remerciements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491299" y="1588943"/>
            <a:ext cx="8488680" cy="29838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dirty="0">
                <a:latin typeface="Arial" panose="020B0604020202020204"/>
                <a:cs typeface="Arial" panose="020B0604020202020204"/>
              </a:rPr>
              <a:t>Bilan</a:t>
            </a:r>
            <a:r>
              <a:rPr sz="2200" b="1" spc="-65" dirty="0">
                <a:latin typeface="Arial" panose="020B0604020202020204"/>
                <a:cs typeface="Arial" panose="020B0604020202020204"/>
              </a:rPr>
              <a:t> </a:t>
            </a:r>
            <a:r>
              <a:rPr sz="2200" b="1" dirty="0">
                <a:latin typeface="Arial" panose="020B0604020202020204"/>
                <a:cs typeface="Arial" panose="020B0604020202020204"/>
              </a:rPr>
              <a:t>:</a:t>
            </a:r>
            <a:r>
              <a:rPr sz="2200" b="1" spc="-6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 MT"/>
                <a:cs typeface="Arial MT"/>
              </a:rPr>
              <a:t>site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fonctionnel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de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commande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en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ligne,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interface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utilisateur,</a:t>
            </a:r>
            <a:endParaRPr sz="2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785"/>
              </a:spcBef>
            </a:pPr>
            <a:r>
              <a:rPr sz="2200" dirty="0">
                <a:latin typeface="Arial MT"/>
                <a:cs typeface="Arial MT"/>
              </a:rPr>
              <a:t>stockage</a:t>
            </a:r>
            <a:r>
              <a:rPr sz="2200" spc="-8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local,</a:t>
            </a:r>
            <a:r>
              <a:rPr sz="2200" spc="-8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page</a:t>
            </a:r>
            <a:r>
              <a:rPr sz="2200" spc="-8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d’administration.</a:t>
            </a:r>
            <a:endParaRPr sz="2200">
              <a:latin typeface="Arial MT"/>
              <a:cs typeface="Arial MT"/>
            </a:endParaRPr>
          </a:p>
          <a:p>
            <a:pPr marL="12700" marR="5080">
              <a:lnSpc>
                <a:spcPct val="168000"/>
              </a:lnSpc>
              <a:spcBef>
                <a:spcPts val="1075"/>
              </a:spcBef>
            </a:pPr>
            <a:r>
              <a:rPr sz="2200" b="1" spc="-10" dirty="0">
                <a:latin typeface="Arial" panose="020B0604020202020204"/>
                <a:cs typeface="Arial" panose="020B0604020202020204"/>
              </a:rPr>
              <a:t>Compétences</a:t>
            </a:r>
            <a:r>
              <a:rPr sz="2200" b="1" spc="-70" dirty="0">
                <a:latin typeface="Arial" panose="020B0604020202020204"/>
                <a:cs typeface="Arial" panose="020B0604020202020204"/>
              </a:rPr>
              <a:t> </a:t>
            </a:r>
            <a:r>
              <a:rPr sz="2200" b="1" dirty="0">
                <a:latin typeface="Arial" panose="020B0604020202020204"/>
                <a:cs typeface="Arial" panose="020B0604020202020204"/>
              </a:rPr>
              <a:t>acquises</a:t>
            </a:r>
            <a:r>
              <a:rPr sz="2200" b="1" spc="-70" dirty="0">
                <a:latin typeface="Arial" panose="020B0604020202020204"/>
                <a:cs typeface="Arial" panose="020B0604020202020204"/>
              </a:rPr>
              <a:t> </a:t>
            </a:r>
            <a:r>
              <a:rPr sz="2200" b="1" dirty="0">
                <a:latin typeface="Arial" panose="020B0604020202020204"/>
                <a:cs typeface="Arial" panose="020B0604020202020204"/>
              </a:rPr>
              <a:t>:</a:t>
            </a:r>
            <a:r>
              <a:rPr sz="2200" b="1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10" dirty="0">
                <a:latin typeface="Arial MT"/>
                <a:cs typeface="Arial MT"/>
              </a:rPr>
              <a:t>manipulation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du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DOM,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gestion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d’état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spc="-20" dirty="0">
                <a:latin typeface="Arial MT"/>
                <a:cs typeface="Arial MT"/>
              </a:rPr>
              <a:t>côté </a:t>
            </a:r>
            <a:r>
              <a:rPr sz="2200" dirty="0">
                <a:latin typeface="Arial MT"/>
                <a:cs typeface="Arial MT"/>
              </a:rPr>
              <a:t>client,</a:t>
            </a:r>
            <a:r>
              <a:rPr sz="2200" spc="-8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responsive</a:t>
            </a:r>
            <a:r>
              <a:rPr sz="2200" spc="-8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design,</a:t>
            </a:r>
            <a:r>
              <a:rPr sz="2200" spc="-8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accessibilité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de</a:t>
            </a:r>
            <a:r>
              <a:rPr sz="2200" spc="-8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base.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45"/>
              </a:spcBef>
            </a:pPr>
            <a:endParaRPr sz="22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sz="2600" b="1" spc="-10" dirty="0">
                <a:solidFill>
                  <a:srgbClr val="FF3F00"/>
                </a:solidFill>
                <a:latin typeface="Arial" panose="020B0604020202020204"/>
                <a:cs typeface="Arial" panose="020B0604020202020204"/>
              </a:rPr>
              <a:t>Merci!</a:t>
            </a:r>
            <a:endParaRPr sz="26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295F99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3781</Words>
  <Application>WPS Presentation</Application>
  <PresentationFormat>On-screen Show (4:3)</PresentationFormat>
  <Paragraphs>223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2" baseType="lpstr">
      <vt:lpstr>Arial</vt:lpstr>
      <vt:lpstr>SimSun</vt:lpstr>
      <vt:lpstr>Wingdings</vt:lpstr>
      <vt:lpstr>Arial MT</vt:lpstr>
      <vt:lpstr>Arial</vt:lpstr>
      <vt:lpstr>Lucida Sans Unicode</vt:lpstr>
      <vt:lpstr>Microsoft YaHei</vt:lpstr>
      <vt:lpstr>Arial Unicode MS</vt:lpstr>
      <vt:lpstr>Calibri</vt:lpstr>
      <vt:lpstr>Office Theme</vt:lpstr>
      <vt:lpstr>Coffee Shop — Mini-projet Programmation Web 1</vt:lpstr>
      <vt:lpstr>Sommaire</vt:lpstr>
      <vt:lpstr>Introduction générale</vt:lpstr>
      <vt:lpstr>Contexte et objectifs fonctionnels</vt:lpstr>
      <vt:lpstr>Analyse &amp; conception</vt:lpstr>
      <vt:lpstr>Technologies &amp; outils</vt:lpstr>
      <vt:lpstr>Page index.html (accueil &amp; menu)</vt:lpstr>
      <vt:lpstr>Page order.html (commande)</vt:lpstr>
      <vt:lpstr>Page data.html (gestion des messages / commandes)</vt:lpstr>
      <vt:lpstr>Gestion du panier &amp; persistance</vt:lpstr>
      <vt:lpstr>Accessibilité &amp; responsive</vt:lpstr>
      <vt:lpstr>Conclusion &amp; Remerciements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Coffee Shop — Mini-projet Programmation Web 1</dc:title>
  <dc:creator/>
  <cp:lastModifiedBy>Mouahid</cp:lastModifiedBy>
  <cp:revision>1</cp:revision>
  <dcterms:created xsi:type="dcterms:W3CDTF">2025-12-06T08:24:46Z</dcterms:created>
  <dcterms:modified xsi:type="dcterms:W3CDTF">2025-12-06T08:24:46Z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2025-12-06T01:00:00Z</vt:filetime>
  </property>
  <property fmtid="{D5CDD505-2E9C-101B-9397-08002B2CF9AE}" pid="3" name="Creator">
    <vt:lpwstr>Impress</vt:lpwstr>
  </property>
  <property fmtid="{D5CDD505-2E9C-101B-9397-08002B2CF9AE}" pid="4" name="Producer">
    <vt:lpwstr>LibreOffice 25.8.3.2 (X86_64)</vt:lpwstr>
  </property>
  <property fmtid="{D5CDD505-2E9C-101B-9397-08002B2CF9AE}" pid="5" name="LastSaved">
    <vt:filetime>2025-12-06T01:00:00Z</vt:filetime>
  </property>
  <property fmtid="{D5CDD505-2E9C-101B-9397-08002B2CF9AE}" pid="6" name="ICV">
    <vt:lpwstr>8F01505E271546B3A885DB9B2033F3EA_12</vt:lpwstr>
  </property>
  <property fmtid="{D5CDD505-2E9C-101B-9397-08002B2CF9AE}" pid="7" name="KSOProductBuildVer">
    <vt:lpwstr>1033-12.2.0.23155</vt:lpwstr>
  </property>
</Properties>
</file>